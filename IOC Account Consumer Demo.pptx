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2" r:id="rId15"/>
  </p:sldIdLst>
  <p:sldSz cx="12192000" cy="6858000"/>
  <p:notesSz cx="6858000" cy="12192000"/>
  <p:embeddedFontLst>
    <p:embeddedFont>
      <p:font typeface="JetBrains Mono" panose="020B060402020202020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63688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every Kafka record that reaches IOC ends with exactly one recorded outcome, and we can show it. The column on the right is what our event ledger looks like: one line per position on the topic, one result per line. Today: why we built it this way, how it works, a live demo, and the decisions we need from other teams. Fill in the date before presenting.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about ten minutes of design, fifteen of live demo, then proof and decisions. Why accounts first: it is the highest-volume topic (up to 20 million events a day, per the brief) and the one where only around 1% of changes should raise a Credit Change event. If the design works here, it works for covenants, properties and the rest.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twelve points from the original brief, each with the one-line answer. Don't read them all out; say that every point maps to something we built, and that the next slides walk through them in order. If someone asks about a specific box, jump to it: duplicates on slide 6, evidence on 7, failures on 8, replay on 9, load on 10, the outbox on 11, tracing and Splunk on 12.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vocabulary for the rest of the session. One clerk per belt, one rule book for every clerk. The key engineering point is on the right: the rule book is a library, so the covenant, property and collateral consumers get all the reliability and the console for free. A topic team writes only four small classes. For accounts those are AccountEventMapper, AccountEventValidator, AccountRepository and AccountMaterialityRule.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design on one slide; every later slide zooms into one box. Walk it left to right. 1: we read raw bytes, not Avro objects, so a corrupt message becomes an ordinary failure instead of blocking the partition forever. 2: decode and check the contract. 3: if Kafka hands us an offset we already have, or an eventId we already processed, it’s a duplicate. 4: a batch of 500 often holds several versions of one account; we only write the newest. 5: compare with the version stored on the account row; older loses. 6: the account change, a ledger line for every record in the batch, and an outbox note for the few that matter all commit together, or none do. 7: only then do we tell Kafka we’re done. A crash anywhere before that just means Kafka redelivers, and step 3 makes that harmless. Bottom row: what happens when something goes wrong, covered on slide 8.</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says duplicates will happen; we have evidence from other systems. A single dedup table only catches the first two rows. The third, where the source re-sends the same news under a new eventId, needs the version guard: every account row stores the source version that produced it, and an incoming event only applies if its version is higher. Same version and same content is a duplicate. Same version but different content is a genuine contradiction, so it goes to the failure tray for a person. This depends on the Account Domain sending full snapshots with a version number per account, which is one of the decisions on slide 18. A delta (“balance went up by €50”) received twice would silently corrupt the balance.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sure events have been processed” needs a precise definition, and this is it: every offset we consume gets one ledger line with one of these seven outcomes, and the counts must add up. The Overview screen shows that equation live. Evidence comes in three layers. Per record: the ledger line, with a SHA-256 fingerprint of the exact bytes received (accounts keep the fingerprint, not the full payload, because the full payload would be roughly 7 TB a year). Per partition: a check during the day that offsets have no holes; a hole is verified against Kafka, and transaction markers or compaction are explained automatically. Per day: the source team tells us how many they sent, and we compare. That last check is the only one that proves nothing was lost before it reached Kafka, so it needs the source teams’ agreement.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failure tray serves every topic: covenants, properties, accounts, same table, same screen. The interesting design decision is the third card. If Azure SQL goes down, every single event would fail. A naive consumer drains millions of perfectly good events into the failure tray, and someone has to replay all of them later. Ours recognises that the system, not the letter, is the problem: it pauses, keeps its partitions so there is no rebalance storm, leaves offsets uncommitted, and probes with a growing backoff from 1 to 30 seconds. When the database is back it carries on from where it stopped. We demo exactly this by stopping the SQL Server container. Liveness probes deliberately don’t depend on the database, because restarting pods never fixes a database outage.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 replay is the timer you see at the top. The classic example is from covenants: a covenant arrives before its CCV, fails as “dependency missing”, and the retry a few minutes later succeeds once the CCV has landed. For accounts it mostly covers database deadlocks and timeouts. After the 4-hour attempt, a person looks at it. Manual replay comes in three forms: one event, everything matching a filter (“all validation failures since the mapper fix”), or re-reading an offset range straight from Kafka after a logic bug. All three show the count first. Above a threshold (100 events by default, 20 locally) a different person must approve; the code refuses self-approval, and so does a check constraint in the database. The bottom-right example is the safety argument: a replay goes through the version guard, so an old event that finally succeeds can never overwrite newer data.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million a day is the upper figure from the brief; that’s about 230 per second on average, and a 10× burst, like go-live day or a month-end balance recalculation, is around 2,300 per second. A transaction per record manages roughly 50 to 100 per second per thread, so per-record processing can’t keep up. Hence batching: one transaction for a whole poll of 500. Coalescing means if account IE123 changes three times in one batch, we write only the latest. Bisect is how batching stays safe: if one record in 500 breaks the transaction, we split into two halves of 250 and keep halving the failing half; the other 499 commit normally. Scaling: KEDA adds pods as lag grows, but every pod writes to the same Azure SQL, so the maximum is set by the database, not by the partition count. These numbers are estimates until we run a 10× load test against a production-sized database, which is on the next-steps slide.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said the Credit Change event should not be produced inside the consumer transaction. Precisely: the Kafka send is outside, but the intent to send, the outbox note, is inside, saved in the same database transaction as the account change. So we can never save “over limit” and forget to announce it, and never announce something that wasn’t saved. The postman is a separate loop that sends notes and writes back the partition and offset Kafka acknowledged; that’s the evidence the event was produced at least once. An unsent note older than 5 minutes raises an alert. Ordering: with several postmen, two notes for the same account could go out of order, so the outbox is split into 16 shards by account and each shard has exactly one sender at a time. Kafka Connect or Debezium can replace the postman later without touching any consumer. On the right: the draft materiality rule. It is configuration with a version number stamped on every event, but the business has to own and agree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traceability story the brief cares most about. Every record carries a trace id: the producer’s W3C traceparent header if they send one, otherwise one we derive from topic, partition and offset, so a redelivery, an automatic retry and a manual replay of the same record all share it. The same id is on the ledger line, on any failure-tray row and each retry, on the outbox note, and in the headers of the Credit Change event CLM receives. So the auditor’s question, “did IOC receive this change, what did it do, did CLM get told?”, is one search in the console, or one search in Splunk. On logging cost: writing a line for every successful account event would be 60 to 100 million lines a day for one topic, which is expensive and says nothing. Instead we count successes as metrics, write one summary line a minute, and log every failure in full. Same fields for every consumer, so one Splunk search works for all topics.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 before the meeting: run docker compose up -d in the project folder, start the app with the local profile, and publish one batch from the Simulator five minutes before so the Overview already has a minute or two of numbers. Have two browser windows: a normal one and a private one, so you can be alice and bob at the same time. Keep a terminal open with “docker stop ioc-account-consumer-sqlserver-1” ready to paste. Close the laptop’s other heavy apps; Docker needs the memory. Backup plan if anything fails live: the published preview of the console has the same screens with sample data, including the four-eyes flow. Roles are the four local demo users; in a shared environment they come from Entra ID app roles.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straightforward about status. Everything on the left exists in the code and runs on a laptop today; Entra and AKS are configured but not yet connected to a real tenant or cluster. Everything on the right is work we know about. The schema is a placeholder built from the Account fields in the Data Inventory, so the real one only changes the mapper and validator. The load test sets the real numbers: maximum pods, connection pool size and batch size. The ledger needs date partitioning in Azure SQL so old days can be switched out cheaply and archived as Parquet to the data lake, at a retention Compliance agrees.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5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5F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20"/>
            <a:ext cx="10566400" cy="467320"/>
          </a:xfrm>
          <a:prstGeom prst="rect">
            <a:avLst/>
          </a:prstGeom>
          <a:noFill/>
          <a:ln/>
        </p:spPr>
        <p:txBody>
          <a:bodyPr wrap="square" lIns="0" tIns="0" rIns="0" bIns="0" rtlCol="0" anchor="t"/>
          <a:lstStyle>
            <a:lvl1pPr marL="0" indent="0" algn="l">
              <a:lnSpc>
                <a:spcPct val="115000"/>
              </a:lnSpc>
              <a:buNone/>
              <a:defRPr lang="en-US" sz="3200" dirty="0">
                <a:solidFill>
                  <a:srgbClr val="14212B"/>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99841"/>
            <a:ext cx="10566400" cy="4145359"/>
          </a:xfrm>
          <a:prstGeom prst="rect">
            <a:avLst/>
          </a:prstGeom>
          <a:noFill/>
          <a:ln/>
        </p:spPr>
        <p:txBody>
          <a:bodyPr wrap="square" lIns="0" tIns="0" rIns="0" bIns="0" rtlCol="0" anchor="t"/>
          <a:lstStyle>
            <a:lvl1pPr marL="0" indent="0" algn="l">
              <a:lnSpc>
                <a:spcPct val="140000"/>
              </a:lnSpc>
              <a:buNone/>
              <a:defRPr lang="en-US" sz="1600" dirty="0">
                <a:solidFill>
                  <a:srgbClr val="14212B"/>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0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5CC0D3"/>
                </a:solidFill>
                <a:latin typeface="IBM Plex Sans" pitchFamily="34" charset="0"/>
                <a:ea typeface="IBM Plex Sans" pitchFamily="34" charset="-122"/>
                <a:cs typeface="IBM Plex Sans" pitchFamily="34" charset="-120"/>
              </a:rPr>
              <a:t>CLMP · IOC · TIER 1</a:t>
            </a:r>
            <a:endParaRPr lang="en-US" sz="1400" dirty="0"/>
          </a:p>
        </p:txBody>
      </p:sp>
      <p:sp>
        <p:nvSpPr>
          <p:cNvPr id="3" name="Text 1"/>
          <p:cNvSpPr>
            <a:spLocks noGrp="1"/>
          </p:cNvSpPr>
          <p:nvPr>
            <p:ph type="title"/>
          </p:nvPr>
        </p:nvSpPr>
        <p:spPr>
          <a:xfrm>
            <a:off x="812800" y="2237780"/>
            <a:ext cx="6540500" cy="1518841"/>
          </a:xfrm>
          <a:prstGeom prst="rect">
            <a:avLst/>
          </a:prstGeom>
          <a:noFill/>
          <a:ln/>
        </p:spPr>
        <p:txBody>
          <a:bodyPr wrap="square" lIns="0" tIns="0" rIns="0" bIns="0" rtlCol="0" anchor="t">
            <a:normAutofit/>
          </a:bodyPr>
          <a:lstStyle/>
          <a:p>
            <a:pPr marL="0" indent="0" algn="l">
              <a:lnSpc>
                <a:spcPts val="5880"/>
              </a:lnSpc>
              <a:buNone/>
            </a:pPr>
            <a:r>
              <a:rPr lang="en-US" sz="5600" b="1" i="0" kern="0" spc="-100" dirty="0">
                <a:solidFill>
                  <a:srgbClr val="EEF3F5"/>
                </a:solidFill>
                <a:latin typeface="IBM Plex Sans" pitchFamily="34" charset="0"/>
                <a:ea typeface="IBM Plex Sans" pitchFamily="34" charset="-122"/>
                <a:cs typeface="IBM Plex Sans" pitchFamily="34" charset="-120"/>
              </a:rPr>
              <a:t>IOC Account Consumer</a:t>
            </a:r>
            <a:endParaRPr lang="en-US" sz="5600" dirty="0"/>
          </a:p>
        </p:txBody>
      </p:sp>
      <p:sp>
        <p:nvSpPr>
          <p:cNvPr id="4" name="Text 2"/>
          <p:cNvSpPr/>
          <p:nvPr/>
        </p:nvSpPr>
        <p:spPr>
          <a:xfrm>
            <a:off x="812800" y="3934420"/>
            <a:ext cx="6540500" cy="7112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A9BAC3"/>
                </a:solidFill>
                <a:latin typeface="IBM Plex Sans" pitchFamily="34" charset="0"/>
                <a:ea typeface="IBM Plex Sans" pitchFamily="34" charset="-122"/>
                <a:cs typeface="IBM Plex Sans" pitchFamily="34" charset="-120"/>
              </a:rPr>
              <a:t>A traceable, replay-safe Kafka consumer, and the blueprint for every IOC topic</a:t>
            </a:r>
            <a:endParaRPr lang="en-US" sz="20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A9BAC3"/>
                </a:solidFill>
                <a:latin typeface="IBM Plex Sans" pitchFamily="34" charset="0"/>
                <a:ea typeface="IBM Plex Sans" pitchFamily="34" charset="-122"/>
                <a:cs typeface="IBM Plex Sans" pitchFamily="34" charset="-120"/>
              </a:rPr>
              <a:t>Demo for the IOC team · Muzammil · 29-Oct-2026</a:t>
            </a:r>
            <a:endParaRPr lang="en-US" sz="1400" dirty="0"/>
          </a:p>
        </p:txBody>
      </p:sp>
      <p:sp>
        <p:nvSpPr>
          <p:cNvPr id="6" name="Text 4"/>
          <p:cNvSpPr/>
          <p:nvPr/>
        </p:nvSpPr>
        <p:spPr>
          <a:xfrm>
            <a:off x="7747000" y="1905000"/>
            <a:ext cx="3632200" cy="452041"/>
          </a:xfrm>
          <a:prstGeom prst="rect">
            <a:avLst/>
          </a:prstGeom>
          <a:solidFill>
            <a:srgbClr val="172C38"/>
          </a:solidFill>
          <a:ln/>
        </p:spPr>
        <p:txBody>
          <a:bodyPr wrap="square" lIns="177800" tIns="101600" rIns="53340" bIns="76200" rtlCol="0" anchor="t">
            <a:normAutofit/>
          </a:bodyPr>
          <a:lstStyle/>
          <a:p>
            <a:pPr marL="0" indent="0" algn="l">
              <a:lnSpc>
                <a:spcPts val="1960"/>
              </a:lnSpc>
              <a:buNone/>
            </a:pPr>
            <a:r>
              <a:rPr lang="en-US" sz="1400" dirty="0">
                <a:solidFill>
                  <a:srgbClr val="EEF3F5"/>
                </a:solidFill>
                <a:latin typeface="JetBrains Mono" pitchFamily="49" charset="0"/>
                <a:ea typeface="JetBrains Mono" pitchFamily="49" charset="-122"/>
                <a:cs typeface="JetBrains Mono" pitchFamily="49" charset="-120"/>
              </a:rPr>
              <a:t>4,810 </a:t>
            </a:r>
            <a:r>
              <a:rPr lang="en-US" sz="1400" dirty="0">
                <a:solidFill>
                  <a:srgbClr val="5CC0D3"/>
                </a:solidFill>
                <a:latin typeface="JetBrains Mono" pitchFamily="49" charset="0"/>
                <a:ea typeface="JetBrains Mono" pitchFamily="49" charset="-122"/>
                <a:cs typeface="JetBrains Mono" pitchFamily="49" charset="-120"/>
              </a:rPr>
              <a:t>PROCESSED</a:t>
            </a:r>
            <a:endParaRPr lang="en-US" sz="1400" dirty="0"/>
          </a:p>
        </p:txBody>
      </p:sp>
      <p:sp>
        <p:nvSpPr>
          <p:cNvPr id="7" name="Shape 5"/>
          <p:cNvSpPr/>
          <p:nvPr/>
        </p:nvSpPr>
        <p:spPr>
          <a:xfrm>
            <a:off x="7759700" y="1905000"/>
            <a:ext cx="0" cy="452041"/>
          </a:xfrm>
          <a:prstGeom prst="line">
            <a:avLst/>
          </a:prstGeom>
          <a:noFill/>
          <a:ln w="25400">
            <a:solidFill>
              <a:srgbClr val="5CC0D3"/>
            </a:solidFill>
            <a:prstDash val="solid"/>
          </a:ln>
        </p:spPr>
      </p:sp>
      <p:sp>
        <p:nvSpPr>
          <p:cNvPr id="8" name="Text 6"/>
          <p:cNvSpPr/>
          <p:nvPr/>
        </p:nvSpPr>
        <p:spPr>
          <a:xfrm>
            <a:off x="7747000" y="2445941"/>
            <a:ext cx="3632200" cy="452041"/>
          </a:xfrm>
          <a:prstGeom prst="rect">
            <a:avLst/>
          </a:prstGeom>
          <a:solidFill>
            <a:srgbClr val="172C38"/>
          </a:solidFill>
          <a:ln/>
        </p:spPr>
        <p:txBody>
          <a:bodyPr wrap="square" lIns="177800" tIns="101600" rIns="53340" bIns="76200" rtlCol="0" anchor="t">
            <a:normAutofit/>
          </a:bodyPr>
          <a:lstStyle/>
          <a:p>
            <a:pPr marL="0" indent="0" algn="l">
              <a:lnSpc>
                <a:spcPts val="1960"/>
              </a:lnSpc>
              <a:buNone/>
            </a:pPr>
            <a:r>
              <a:rPr lang="en-US" sz="1400" dirty="0">
                <a:solidFill>
                  <a:srgbClr val="EEF3F5"/>
                </a:solidFill>
                <a:latin typeface="JetBrains Mono" pitchFamily="49" charset="0"/>
                <a:ea typeface="JetBrains Mono" pitchFamily="49" charset="-122"/>
                <a:cs typeface="JetBrains Mono" pitchFamily="49" charset="-120"/>
              </a:rPr>
              <a:t>4,811 </a:t>
            </a:r>
            <a:r>
              <a:rPr lang="en-US" sz="1400" dirty="0">
                <a:solidFill>
                  <a:srgbClr val="A9BAC3"/>
                </a:solidFill>
                <a:latin typeface="JetBrains Mono" pitchFamily="49" charset="0"/>
                <a:ea typeface="JetBrains Mono" pitchFamily="49" charset="-122"/>
                <a:cs typeface="JetBrains Mono" pitchFamily="49" charset="-120"/>
              </a:rPr>
              <a:t>DUPLICATE</a:t>
            </a:r>
            <a:endParaRPr lang="en-US" sz="1400" dirty="0"/>
          </a:p>
        </p:txBody>
      </p:sp>
      <p:sp>
        <p:nvSpPr>
          <p:cNvPr id="9" name="Shape 7"/>
          <p:cNvSpPr/>
          <p:nvPr/>
        </p:nvSpPr>
        <p:spPr>
          <a:xfrm>
            <a:off x="7759700" y="2445941"/>
            <a:ext cx="0" cy="452041"/>
          </a:xfrm>
          <a:prstGeom prst="line">
            <a:avLst/>
          </a:prstGeom>
          <a:noFill/>
          <a:ln w="25400">
            <a:solidFill>
              <a:srgbClr val="7F96A3"/>
            </a:solidFill>
            <a:prstDash val="solid"/>
          </a:ln>
        </p:spPr>
      </p:sp>
      <p:sp>
        <p:nvSpPr>
          <p:cNvPr id="10" name="Text 8"/>
          <p:cNvSpPr/>
          <p:nvPr/>
        </p:nvSpPr>
        <p:spPr>
          <a:xfrm>
            <a:off x="7747000" y="2986881"/>
            <a:ext cx="3632200" cy="452041"/>
          </a:xfrm>
          <a:prstGeom prst="rect">
            <a:avLst/>
          </a:prstGeom>
          <a:solidFill>
            <a:srgbClr val="172C38"/>
          </a:solidFill>
          <a:ln/>
        </p:spPr>
        <p:txBody>
          <a:bodyPr wrap="square" lIns="177800" tIns="101600" rIns="53340" bIns="76200" rtlCol="0" anchor="t">
            <a:normAutofit/>
          </a:bodyPr>
          <a:lstStyle/>
          <a:p>
            <a:pPr marL="0" indent="0" algn="l">
              <a:lnSpc>
                <a:spcPts val="1960"/>
              </a:lnSpc>
              <a:buNone/>
            </a:pPr>
            <a:r>
              <a:rPr lang="en-US" sz="1400" dirty="0">
                <a:solidFill>
                  <a:srgbClr val="EEF3F5"/>
                </a:solidFill>
                <a:latin typeface="JetBrains Mono" pitchFamily="49" charset="0"/>
                <a:ea typeface="JetBrains Mono" pitchFamily="49" charset="-122"/>
                <a:cs typeface="JetBrains Mono" pitchFamily="49" charset="-120"/>
              </a:rPr>
              <a:t>4,812 </a:t>
            </a:r>
            <a:r>
              <a:rPr lang="en-US" sz="1400" dirty="0">
                <a:solidFill>
                  <a:srgbClr val="5CC0D3"/>
                </a:solidFill>
                <a:latin typeface="JetBrains Mono" pitchFamily="49" charset="0"/>
                <a:ea typeface="JetBrains Mono" pitchFamily="49" charset="-122"/>
                <a:cs typeface="JetBrains Mono" pitchFamily="49" charset="-120"/>
              </a:rPr>
              <a:t>PROCESSED</a:t>
            </a:r>
            <a:endParaRPr lang="en-US" sz="1400" dirty="0"/>
          </a:p>
        </p:txBody>
      </p:sp>
      <p:sp>
        <p:nvSpPr>
          <p:cNvPr id="11" name="Shape 9"/>
          <p:cNvSpPr/>
          <p:nvPr/>
        </p:nvSpPr>
        <p:spPr>
          <a:xfrm>
            <a:off x="7759700" y="2986881"/>
            <a:ext cx="0" cy="452041"/>
          </a:xfrm>
          <a:prstGeom prst="line">
            <a:avLst/>
          </a:prstGeom>
          <a:noFill/>
          <a:ln w="25400">
            <a:solidFill>
              <a:srgbClr val="5CC0D3"/>
            </a:solidFill>
            <a:prstDash val="solid"/>
          </a:ln>
        </p:spPr>
      </p:sp>
      <p:sp>
        <p:nvSpPr>
          <p:cNvPr id="12" name="Text 10"/>
          <p:cNvSpPr/>
          <p:nvPr/>
        </p:nvSpPr>
        <p:spPr>
          <a:xfrm>
            <a:off x="7747000" y="3527822"/>
            <a:ext cx="3632200" cy="452041"/>
          </a:xfrm>
          <a:prstGeom prst="rect">
            <a:avLst/>
          </a:prstGeom>
          <a:solidFill>
            <a:srgbClr val="172C38"/>
          </a:solidFill>
          <a:ln/>
        </p:spPr>
        <p:txBody>
          <a:bodyPr wrap="square" lIns="177800" tIns="101600" rIns="53340" bIns="76200" rtlCol="0" anchor="t">
            <a:normAutofit/>
          </a:bodyPr>
          <a:lstStyle/>
          <a:p>
            <a:pPr marL="0" indent="0" algn="l">
              <a:lnSpc>
                <a:spcPts val="1960"/>
              </a:lnSpc>
              <a:buNone/>
            </a:pPr>
            <a:r>
              <a:rPr lang="en-US" sz="1400" dirty="0">
                <a:solidFill>
                  <a:srgbClr val="EEF3F5"/>
                </a:solidFill>
                <a:latin typeface="JetBrains Mono" pitchFamily="49" charset="0"/>
                <a:ea typeface="JetBrains Mono" pitchFamily="49" charset="-122"/>
                <a:cs typeface="JetBrains Mono" pitchFamily="49" charset="-120"/>
              </a:rPr>
              <a:t>4,813 </a:t>
            </a:r>
            <a:r>
              <a:rPr lang="en-US" sz="1400" dirty="0">
                <a:solidFill>
                  <a:srgbClr val="E39A5C"/>
                </a:solidFill>
                <a:latin typeface="JetBrains Mono" pitchFamily="49" charset="0"/>
                <a:ea typeface="JetBrains Mono" pitchFamily="49" charset="-122"/>
                <a:cs typeface="JetBrains Mono" pitchFamily="49" charset="-120"/>
              </a:rPr>
              <a:t>FAILED → REPLAYED</a:t>
            </a:r>
            <a:endParaRPr lang="en-US" sz="1400" dirty="0"/>
          </a:p>
        </p:txBody>
      </p:sp>
      <p:sp>
        <p:nvSpPr>
          <p:cNvPr id="13" name="Shape 11"/>
          <p:cNvSpPr/>
          <p:nvPr/>
        </p:nvSpPr>
        <p:spPr>
          <a:xfrm>
            <a:off x="7759700" y="3527822"/>
            <a:ext cx="0" cy="452041"/>
          </a:xfrm>
          <a:prstGeom prst="line">
            <a:avLst/>
          </a:prstGeom>
          <a:noFill/>
          <a:ln w="25400">
            <a:solidFill>
              <a:srgbClr val="E39A5C"/>
            </a:solidFill>
            <a:prstDash val="solid"/>
          </a:ln>
        </p:spPr>
      </p:sp>
      <p:sp>
        <p:nvSpPr>
          <p:cNvPr id="14" name="Text 12"/>
          <p:cNvSpPr/>
          <p:nvPr/>
        </p:nvSpPr>
        <p:spPr>
          <a:xfrm>
            <a:off x="7747000" y="4068763"/>
            <a:ext cx="3632200" cy="452041"/>
          </a:xfrm>
          <a:prstGeom prst="rect">
            <a:avLst/>
          </a:prstGeom>
          <a:solidFill>
            <a:srgbClr val="172C38"/>
          </a:solidFill>
          <a:ln/>
        </p:spPr>
        <p:txBody>
          <a:bodyPr wrap="square" lIns="177800" tIns="101600" rIns="53340" bIns="76200" rtlCol="0" anchor="t">
            <a:normAutofit/>
          </a:bodyPr>
          <a:lstStyle/>
          <a:p>
            <a:pPr marL="0" indent="0" algn="l">
              <a:lnSpc>
                <a:spcPts val="1960"/>
              </a:lnSpc>
              <a:buNone/>
            </a:pPr>
            <a:r>
              <a:rPr lang="en-US" sz="1400" dirty="0">
                <a:solidFill>
                  <a:srgbClr val="EEF3F5"/>
                </a:solidFill>
                <a:latin typeface="JetBrains Mono" pitchFamily="49" charset="0"/>
                <a:ea typeface="JetBrains Mono" pitchFamily="49" charset="-122"/>
                <a:cs typeface="JetBrains Mono" pitchFamily="49" charset="-120"/>
              </a:rPr>
              <a:t>4,814 </a:t>
            </a:r>
            <a:r>
              <a:rPr lang="en-US" sz="1400" dirty="0">
                <a:solidFill>
                  <a:srgbClr val="A9BAC3"/>
                </a:solidFill>
                <a:latin typeface="JetBrains Mono" pitchFamily="49" charset="0"/>
                <a:ea typeface="JetBrains Mono" pitchFamily="49" charset="-122"/>
                <a:cs typeface="JetBrains Mono" pitchFamily="49" charset="-120"/>
              </a:rPr>
              <a:t>STALE</a:t>
            </a:r>
            <a:endParaRPr lang="en-US" sz="1400" dirty="0"/>
          </a:p>
        </p:txBody>
      </p:sp>
      <p:sp>
        <p:nvSpPr>
          <p:cNvPr id="15" name="Shape 13"/>
          <p:cNvSpPr/>
          <p:nvPr/>
        </p:nvSpPr>
        <p:spPr>
          <a:xfrm>
            <a:off x="7759700" y="4068763"/>
            <a:ext cx="0" cy="452041"/>
          </a:xfrm>
          <a:prstGeom prst="line">
            <a:avLst/>
          </a:prstGeom>
          <a:noFill/>
          <a:ln w="25400">
            <a:solidFill>
              <a:srgbClr val="7F96A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AGENDA</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Four parts, demo in the middle</a:t>
            </a:r>
            <a:endParaRPr lang="en-US" sz="3200" dirty="0"/>
          </a:p>
        </p:txBody>
      </p:sp>
      <p:sp>
        <p:nvSpPr>
          <p:cNvPr id="4" name="Shape 2"/>
          <p:cNvSpPr/>
          <p:nvPr/>
        </p:nvSpPr>
        <p:spPr>
          <a:xfrm>
            <a:off x="815975" y="1953816"/>
            <a:ext cx="2520950" cy="2421334"/>
          </a:xfrm>
          <a:prstGeom prst="roundRect">
            <a:avLst>
              <a:gd name="adj" fmla="val 3016"/>
            </a:avLst>
          </a:prstGeom>
          <a:solidFill>
            <a:srgbClr val="FBFCFC"/>
          </a:solidFill>
          <a:ln w="6350">
            <a:solidFill>
              <a:srgbClr val="D3DBE0"/>
            </a:solidFill>
            <a:prstDash val="solid"/>
          </a:ln>
        </p:spPr>
      </p:sp>
      <p:sp>
        <p:nvSpPr>
          <p:cNvPr id="5" name="Text 3"/>
          <p:cNvSpPr/>
          <p:nvPr/>
        </p:nvSpPr>
        <p:spPr>
          <a:xfrm>
            <a:off x="1047750" y="2185591"/>
            <a:ext cx="211912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D6A7E"/>
                </a:solidFill>
                <a:latin typeface="JetBrains Mono" pitchFamily="49" charset="0"/>
                <a:ea typeface="JetBrains Mono" pitchFamily="49" charset="-122"/>
                <a:cs typeface="JetBrains Mono" pitchFamily="49" charset="-120"/>
              </a:rPr>
              <a:t>01</a:t>
            </a:r>
            <a:endParaRPr lang="en-US" sz="1400" dirty="0"/>
          </a:p>
        </p:txBody>
      </p:sp>
      <p:sp>
        <p:nvSpPr>
          <p:cNvPr id="6" name="Text 4"/>
          <p:cNvSpPr/>
          <p:nvPr/>
        </p:nvSpPr>
        <p:spPr>
          <a:xfrm>
            <a:off x="1047750" y="2536031"/>
            <a:ext cx="211912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2B"/>
                </a:solidFill>
                <a:latin typeface="IBM Plex Sans" pitchFamily="34" charset="0"/>
                <a:ea typeface="IBM Plex Sans" pitchFamily="34" charset="-122"/>
                <a:cs typeface="IBM Plex Sans" pitchFamily="34" charset="-120"/>
              </a:rPr>
              <a:t>Why</a:t>
            </a:r>
            <a:endParaRPr lang="en-US" sz="1800" dirty="0"/>
          </a:p>
        </p:txBody>
      </p:sp>
      <p:sp>
        <p:nvSpPr>
          <p:cNvPr id="7" name="Text 5"/>
          <p:cNvSpPr/>
          <p:nvPr/>
        </p:nvSpPr>
        <p:spPr>
          <a:xfrm>
            <a:off x="1047750" y="2911872"/>
            <a:ext cx="2119122"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B67"/>
                </a:solidFill>
                <a:latin typeface="IBM Plex Sans" pitchFamily="34" charset="0"/>
                <a:ea typeface="IBM Plex Sans" pitchFamily="34" charset="-122"/>
                <a:cs typeface="IBM Plex Sans" pitchFamily="34" charset="-120"/>
              </a:rPr>
              <a:t>The brief, and the post-room model that explains every rule.</a:t>
            </a:r>
            <a:endParaRPr lang="en-US" sz="1300" dirty="0"/>
          </a:p>
        </p:txBody>
      </p:sp>
      <p:sp>
        <p:nvSpPr>
          <p:cNvPr id="8" name="Shape 6"/>
          <p:cNvSpPr/>
          <p:nvPr/>
        </p:nvSpPr>
        <p:spPr>
          <a:xfrm>
            <a:off x="3495675" y="1953816"/>
            <a:ext cx="2520950" cy="2421334"/>
          </a:xfrm>
          <a:prstGeom prst="roundRect">
            <a:avLst>
              <a:gd name="adj" fmla="val 3016"/>
            </a:avLst>
          </a:prstGeom>
          <a:solidFill>
            <a:srgbClr val="FBFCFC"/>
          </a:solidFill>
          <a:ln w="6350">
            <a:solidFill>
              <a:srgbClr val="D3DBE0"/>
            </a:solidFill>
            <a:prstDash val="solid"/>
          </a:ln>
        </p:spPr>
      </p:sp>
      <p:sp>
        <p:nvSpPr>
          <p:cNvPr id="9" name="Text 7"/>
          <p:cNvSpPr/>
          <p:nvPr/>
        </p:nvSpPr>
        <p:spPr>
          <a:xfrm>
            <a:off x="3727450" y="2185591"/>
            <a:ext cx="211912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D6A7E"/>
                </a:solidFill>
                <a:latin typeface="JetBrains Mono" pitchFamily="49" charset="0"/>
                <a:ea typeface="JetBrains Mono" pitchFamily="49" charset="-122"/>
                <a:cs typeface="JetBrains Mono" pitchFamily="49" charset="-120"/>
              </a:rPr>
              <a:t>02</a:t>
            </a:r>
            <a:endParaRPr lang="en-US" sz="1400" dirty="0"/>
          </a:p>
        </p:txBody>
      </p:sp>
      <p:sp>
        <p:nvSpPr>
          <p:cNvPr id="10" name="Text 8"/>
          <p:cNvSpPr/>
          <p:nvPr/>
        </p:nvSpPr>
        <p:spPr>
          <a:xfrm>
            <a:off x="3727450" y="2536031"/>
            <a:ext cx="211912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2B"/>
                </a:solidFill>
                <a:latin typeface="IBM Plex Sans" pitchFamily="34" charset="0"/>
                <a:ea typeface="IBM Plex Sans" pitchFamily="34" charset="-122"/>
                <a:cs typeface="IBM Plex Sans" pitchFamily="34" charset="-120"/>
              </a:rPr>
              <a:t>How it works</a:t>
            </a:r>
            <a:endParaRPr lang="en-US" sz="1800" dirty="0"/>
          </a:p>
        </p:txBody>
      </p:sp>
      <p:sp>
        <p:nvSpPr>
          <p:cNvPr id="11" name="Text 9"/>
          <p:cNvSpPr/>
          <p:nvPr/>
        </p:nvSpPr>
        <p:spPr>
          <a:xfrm>
            <a:off x="3727450" y="2911872"/>
            <a:ext cx="2119122"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B67"/>
                </a:solidFill>
                <a:latin typeface="IBM Plex Sans" pitchFamily="34" charset="0"/>
                <a:ea typeface="IBM Plex Sans" pitchFamily="34" charset="-122"/>
                <a:cs typeface="IBM Plex Sans" pitchFamily="34" charset="-120"/>
              </a:rPr>
              <a:t>Duplicates, evidence, failures, replay, floods, announcements and tracing.</a:t>
            </a:r>
            <a:endParaRPr lang="en-US" sz="1300" dirty="0"/>
          </a:p>
        </p:txBody>
      </p:sp>
      <p:sp>
        <p:nvSpPr>
          <p:cNvPr id="12" name="Shape 10"/>
          <p:cNvSpPr/>
          <p:nvPr/>
        </p:nvSpPr>
        <p:spPr>
          <a:xfrm>
            <a:off x="6175375" y="1953816"/>
            <a:ext cx="2520950" cy="2421334"/>
          </a:xfrm>
          <a:prstGeom prst="roundRect">
            <a:avLst>
              <a:gd name="adj" fmla="val 3016"/>
            </a:avLst>
          </a:prstGeom>
          <a:solidFill>
            <a:srgbClr val="FBFCFC"/>
          </a:solidFill>
          <a:ln w="6350">
            <a:solidFill>
              <a:srgbClr val="D3DBE0"/>
            </a:solidFill>
            <a:prstDash val="solid"/>
          </a:ln>
        </p:spPr>
      </p:sp>
      <p:sp>
        <p:nvSpPr>
          <p:cNvPr id="13" name="Text 11"/>
          <p:cNvSpPr/>
          <p:nvPr/>
        </p:nvSpPr>
        <p:spPr>
          <a:xfrm>
            <a:off x="6407150" y="2185591"/>
            <a:ext cx="211912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D6A7E"/>
                </a:solidFill>
                <a:latin typeface="JetBrains Mono" pitchFamily="49" charset="0"/>
                <a:ea typeface="JetBrains Mono" pitchFamily="49" charset="-122"/>
                <a:cs typeface="JetBrains Mono" pitchFamily="49" charset="-120"/>
              </a:rPr>
              <a:t>03</a:t>
            </a:r>
            <a:endParaRPr lang="en-US" sz="1400" dirty="0"/>
          </a:p>
        </p:txBody>
      </p:sp>
      <p:sp>
        <p:nvSpPr>
          <p:cNvPr id="14" name="Text 12"/>
          <p:cNvSpPr/>
          <p:nvPr/>
        </p:nvSpPr>
        <p:spPr>
          <a:xfrm>
            <a:off x="6407150" y="2536031"/>
            <a:ext cx="2119122"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2B"/>
                </a:solidFill>
                <a:latin typeface="IBM Plex Sans" pitchFamily="34" charset="0"/>
                <a:ea typeface="IBM Plex Sans" pitchFamily="34" charset="-122"/>
                <a:cs typeface="IBM Plex Sans" pitchFamily="34" charset="-120"/>
              </a:rPr>
              <a:t>Live demo</a:t>
            </a:r>
            <a:endParaRPr lang="en-US" sz="1800" dirty="0"/>
          </a:p>
        </p:txBody>
      </p:sp>
      <p:sp>
        <p:nvSpPr>
          <p:cNvPr id="15" name="Text 13"/>
          <p:cNvSpPr/>
          <p:nvPr/>
        </p:nvSpPr>
        <p:spPr>
          <a:xfrm>
            <a:off x="6407150" y="2911872"/>
            <a:ext cx="2119122"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B67"/>
                </a:solidFill>
                <a:latin typeface="IBM Plex Sans" pitchFamily="34" charset="0"/>
                <a:ea typeface="IBM Plex Sans" pitchFamily="34" charset="-122"/>
                <a:cs typeface="IBM Plex Sans" pitchFamily="34" charset="-120"/>
              </a:rPr>
              <a:t>The ops console on a local stack: trace, failure tray, four-eyes replay, a database outage.</a:t>
            </a:r>
            <a:endParaRPr lang="en-US" sz="1300" dirty="0"/>
          </a:p>
        </p:txBody>
      </p:sp>
      <p:sp>
        <p:nvSpPr>
          <p:cNvPr id="16" name="Shape 14"/>
          <p:cNvSpPr/>
          <p:nvPr/>
        </p:nvSpPr>
        <p:spPr>
          <a:xfrm>
            <a:off x="8855075" y="1953816"/>
            <a:ext cx="2520950" cy="2421334"/>
          </a:xfrm>
          <a:prstGeom prst="roundRect">
            <a:avLst>
              <a:gd name="adj" fmla="val 3016"/>
            </a:avLst>
          </a:prstGeom>
          <a:solidFill>
            <a:srgbClr val="FBFCFC"/>
          </a:solidFill>
          <a:ln w="6350">
            <a:solidFill>
              <a:srgbClr val="D3DBE0"/>
            </a:solidFill>
            <a:prstDash val="solid"/>
          </a:ln>
        </p:spPr>
      </p:sp>
      <p:sp>
        <p:nvSpPr>
          <p:cNvPr id="17" name="Text 15"/>
          <p:cNvSpPr/>
          <p:nvPr/>
        </p:nvSpPr>
        <p:spPr>
          <a:xfrm>
            <a:off x="9086850" y="2185591"/>
            <a:ext cx="211912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D6A7E"/>
                </a:solidFill>
                <a:latin typeface="JetBrains Mono" pitchFamily="49" charset="0"/>
                <a:ea typeface="JetBrains Mono" pitchFamily="49" charset="-122"/>
                <a:cs typeface="JetBrains Mono" pitchFamily="49" charset="-120"/>
              </a:rPr>
              <a:t>04</a:t>
            </a:r>
            <a:endParaRPr lang="en-US" sz="1400" dirty="0"/>
          </a:p>
        </p:txBody>
      </p:sp>
      <p:sp>
        <p:nvSpPr>
          <p:cNvPr id="18" name="Text 16"/>
          <p:cNvSpPr/>
          <p:nvPr/>
        </p:nvSpPr>
        <p:spPr>
          <a:xfrm>
            <a:off x="9086850" y="2536031"/>
            <a:ext cx="2119122" cy="57388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2B"/>
                </a:solidFill>
                <a:latin typeface="IBM Plex Sans" pitchFamily="34" charset="0"/>
                <a:ea typeface="IBM Plex Sans" pitchFamily="34" charset="-122"/>
                <a:cs typeface="IBM Plex Sans" pitchFamily="34" charset="-120"/>
              </a:rPr>
              <a:t>Proof and decisions</a:t>
            </a:r>
            <a:endParaRPr lang="en-US" sz="1800" dirty="0"/>
          </a:p>
        </p:txBody>
      </p:sp>
      <p:sp>
        <p:nvSpPr>
          <p:cNvPr id="19" name="Text 17"/>
          <p:cNvSpPr/>
          <p:nvPr/>
        </p:nvSpPr>
        <p:spPr>
          <a:xfrm>
            <a:off x="9086850" y="3186113"/>
            <a:ext cx="2119122"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B67"/>
                </a:solidFill>
                <a:latin typeface="IBM Plex Sans" pitchFamily="34" charset="0"/>
                <a:ea typeface="IBM Plex Sans" pitchFamily="34" charset="-122"/>
                <a:cs typeface="IBM Plex Sans" pitchFamily="34" charset="-120"/>
              </a:rPr>
              <a:t>Automated tests, production readiness, and what we need from other teams.</a:t>
            </a:r>
            <a:endParaRPr lang="en-US" sz="1300" dirty="0"/>
          </a:p>
        </p:txBody>
      </p:sp>
      <p:sp>
        <p:nvSpPr>
          <p:cNvPr id="20" name="Text 18"/>
          <p:cNvSpPr/>
          <p:nvPr/>
        </p:nvSpPr>
        <p:spPr>
          <a:xfrm>
            <a:off x="812800" y="4733925"/>
            <a:ext cx="8502650"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4B5B67"/>
                </a:solidFill>
                <a:latin typeface="IBM Plex Sans" pitchFamily="34" charset="0"/>
                <a:ea typeface="IBM Plex Sans" pitchFamily="34" charset="-122"/>
                <a:cs typeface="IBM Plex Sans" pitchFamily="34" charset="-120"/>
              </a:rPr>
              <a:t>Built for the account topic first, because it is the hardest: about 20 million events a day, with roughly 1 in 100 changes mattering to credit.</a:t>
            </a:r>
            <a:endParaRPr lang="en-US" sz="1500" dirty="0"/>
          </a:p>
        </p:txBody>
      </p:sp>
      <p:sp>
        <p:nvSpPr>
          <p:cNvPr id="21"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22"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THE BRIEF</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Every point on the brief has an answer</a:t>
            </a:r>
            <a:endParaRPr lang="en-US" sz="3200" dirty="0"/>
          </a:p>
        </p:txBody>
      </p:sp>
      <p:sp>
        <p:nvSpPr>
          <p:cNvPr id="4" name="Shape 2"/>
          <p:cNvSpPr/>
          <p:nvPr/>
        </p:nvSpPr>
        <p:spPr>
          <a:xfrm>
            <a:off x="815975" y="1852216"/>
            <a:ext cx="3448050" cy="692051"/>
          </a:xfrm>
          <a:prstGeom prst="roundRect">
            <a:avLst>
              <a:gd name="adj" fmla="val 8717"/>
            </a:avLst>
          </a:prstGeom>
          <a:solidFill>
            <a:srgbClr val="FBFCFC"/>
          </a:solidFill>
          <a:ln w="6350">
            <a:solidFill>
              <a:srgbClr val="D3DBE0"/>
            </a:solidFill>
            <a:prstDash val="solid"/>
          </a:ln>
        </p:spPr>
      </p:sp>
      <p:sp>
        <p:nvSpPr>
          <p:cNvPr id="5" name="Text 3"/>
          <p:cNvSpPr/>
          <p:nvPr/>
        </p:nvSpPr>
        <p:spPr>
          <a:xfrm>
            <a:off x="971550" y="19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One blueprint for 15+ topics</a:t>
            </a:r>
            <a:endParaRPr lang="en-US" sz="1300" dirty="0"/>
          </a:p>
        </p:txBody>
      </p:sp>
      <p:sp>
        <p:nvSpPr>
          <p:cNvPr id="6" name="Text 4"/>
          <p:cNvSpPr/>
          <p:nvPr/>
        </p:nvSpPr>
        <p:spPr>
          <a:xfrm>
            <a:off x="971550" y="2226171"/>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Shared platform library</a:t>
            </a:r>
            <a:endParaRPr lang="en-US" sz="1200" dirty="0"/>
          </a:p>
        </p:txBody>
      </p:sp>
      <p:sp>
        <p:nvSpPr>
          <p:cNvPr id="7" name="Shape 5"/>
          <p:cNvSpPr/>
          <p:nvPr/>
        </p:nvSpPr>
        <p:spPr>
          <a:xfrm>
            <a:off x="4371975" y="1852216"/>
            <a:ext cx="3448050" cy="692051"/>
          </a:xfrm>
          <a:prstGeom prst="roundRect">
            <a:avLst>
              <a:gd name="adj" fmla="val 8717"/>
            </a:avLst>
          </a:prstGeom>
          <a:solidFill>
            <a:srgbClr val="FBFCFC"/>
          </a:solidFill>
          <a:ln w="6350">
            <a:solidFill>
              <a:srgbClr val="D3DBE0"/>
            </a:solidFill>
            <a:prstDash val="solid"/>
          </a:ln>
        </p:spPr>
      </p:sp>
      <p:sp>
        <p:nvSpPr>
          <p:cNvPr id="8" name="Text 6"/>
          <p:cNvSpPr/>
          <p:nvPr/>
        </p:nvSpPr>
        <p:spPr>
          <a:xfrm>
            <a:off x="4527550" y="19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Assume duplicates</a:t>
            </a:r>
            <a:endParaRPr lang="en-US" sz="1300" dirty="0"/>
          </a:p>
        </p:txBody>
      </p:sp>
      <p:sp>
        <p:nvSpPr>
          <p:cNvPr id="9" name="Text 7"/>
          <p:cNvSpPr/>
          <p:nvPr/>
        </p:nvSpPr>
        <p:spPr>
          <a:xfrm>
            <a:off x="4527550" y="2226171"/>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Offset, eventId and version guard</a:t>
            </a:r>
            <a:endParaRPr lang="en-US" sz="1200" dirty="0"/>
          </a:p>
        </p:txBody>
      </p:sp>
      <p:sp>
        <p:nvSpPr>
          <p:cNvPr id="10" name="Shape 8"/>
          <p:cNvSpPr/>
          <p:nvPr/>
        </p:nvSpPr>
        <p:spPr>
          <a:xfrm>
            <a:off x="7927975" y="1852216"/>
            <a:ext cx="3448050" cy="692051"/>
          </a:xfrm>
          <a:prstGeom prst="roundRect">
            <a:avLst>
              <a:gd name="adj" fmla="val 8717"/>
            </a:avLst>
          </a:prstGeom>
          <a:solidFill>
            <a:srgbClr val="FBFCFC"/>
          </a:solidFill>
          <a:ln w="6350">
            <a:solidFill>
              <a:srgbClr val="D3DBE0"/>
            </a:solidFill>
            <a:prstDash val="solid"/>
          </a:ln>
        </p:spPr>
      </p:sp>
      <p:sp>
        <p:nvSpPr>
          <p:cNvPr id="11" name="Text 9"/>
          <p:cNvSpPr/>
          <p:nvPr/>
        </p:nvSpPr>
        <p:spPr>
          <a:xfrm>
            <a:off x="8083550" y="19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100% sure, with evidence</a:t>
            </a:r>
            <a:endParaRPr lang="en-US" sz="1300" dirty="0"/>
          </a:p>
        </p:txBody>
      </p:sp>
      <p:sp>
        <p:nvSpPr>
          <p:cNvPr id="12" name="Text 10"/>
          <p:cNvSpPr/>
          <p:nvPr/>
        </p:nvSpPr>
        <p:spPr>
          <a:xfrm>
            <a:off x="8083550" y="2226171"/>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One ledger line per record</a:t>
            </a:r>
            <a:endParaRPr lang="en-US" sz="1200" dirty="0"/>
          </a:p>
        </p:txBody>
      </p:sp>
      <p:sp>
        <p:nvSpPr>
          <p:cNvPr id="13" name="Shape 11"/>
          <p:cNvSpPr/>
          <p:nvPr/>
        </p:nvSpPr>
        <p:spPr>
          <a:xfrm>
            <a:off x="815975" y="2652216"/>
            <a:ext cx="3448050" cy="692051"/>
          </a:xfrm>
          <a:prstGeom prst="roundRect">
            <a:avLst>
              <a:gd name="adj" fmla="val 8717"/>
            </a:avLst>
          </a:prstGeom>
          <a:solidFill>
            <a:srgbClr val="FBFCFC"/>
          </a:solidFill>
          <a:ln w="6350">
            <a:solidFill>
              <a:srgbClr val="D3DBE0"/>
            </a:solidFill>
            <a:prstDash val="solid"/>
          </a:ln>
        </p:spPr>
      </p:sp>
      <p:sp>
        <p:nvSpPr>
          <p:cNvPr id="14" name="Text 12"/>
          <p:cNvSpPr/>
          <p:nvPr/>
        </p:nvSpPr>
        <p:spPr>
          <a:xfrm>
            <a:off x="971550" y="27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One way to capture failures</a:t>
            </a:r>
            <a:endParaRPr lang="en-US" sz="1300" dirty="0"/>
          </a:p>
        </p:txBody>
      </p:sp>
      <p:sp>
        <p:nvSpPr>
          <p:cNvPr id="15" name="Text 13"/>
          <p:cNvSpPr/>
          <p:nvPr/>
        </p:nvSpPr>
        <p:spPr>
          <a:xfrm>
            <a:off x="971550" y="3026172"/>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One failure tray, raw bytes kept</a:t>
            </a:r>
            <a:endParaRPr lang="en-US" sz="1200" dirty="0"/>
          </a:p>
        </p:txBody>
      </p:sp>
      <p:sp>
        <p:nvSpPr>
          <p:cNvPr id="16" name="Shape 14"/>
          <p:cNvSpPr/>
          <p:nvPr/>
        </p:nvSpPr>
        <p:spPr>
          <a:xfrm>
            <a:off x="4371975" y="2652216"/>
            <a:ext cx="3448050" cy="692051"/>
          </a:xfrm>
          <a:prstGeom prst="roundRect">
            <a:avLst>
              <a:gd name="adj" fmla="val 8717"/>
            </a:avLst>
          </a:prstGeom>
          <a:solidFill>
            <a:srgbClr val="FBFCFC"/>
          </a:solidFill>
          <a:ln w="6350">
            <a:solidFill>
              <a:srgbClr val="D3DBE0"/>
            </a:solidFill>
            <a:prstDash val="solid"/>
          </a:ln>
        </p:spPr>
      </p:sp>
      <p:sp>
        <p:nvSpPr>
          <p:cNvPr id="17" name="Text 15"/>
          <p:cNvSpPr/>
          <p:nvPr/>
        </p:nvSpPr>
        <p:spPr>
          <a:xfrm>
            <a:off x="4527550" y="27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Automated, safe replay</a:t>
            </a:r>
            <a:endParaRPr lang="en-US" sz="1300" dirty="0"/>
          </a:p>
        </p:txBody>
      </p:sp>
      <p:sp>
        <p:nvSpPr>
          <p:cNvPr id="18" name="Text 16"/>
          <p:cNvSpPr/>
          <p:nvPr/>
        </p:nvSpPr>
        <p:spPr>
          <a:xfrm>
            <a:off x="4527550" y="3026172"/>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Backoff timer, same pipeline</a:t>
            </a:r>
            <a:endParaRPr lang="en-US" sz="1200" dirty="0"/>
          </a:p>
        </p:txBody>
      </p:sp>
      <p:sp>
        <p:nvSpPr>
          <p:cNvPr id="19" name="Shape 17"/>
          <p:cNvSpPr/>
          <p:nvPr/>
        </p:nvSpPr>
        <p:spPr>
          <a:xfrm>
            <a:off x="7927975" y="2652216"/>
            <a:ext cx="3448050" cy="692051"/>
          </a:xfrm>
          <a:prstGeom prst="roundRect">
            <a:avLst>
              <a:gd name="adj" fmla="val 8717"/>
            </a:avLst>
          </a:prstGeom>
          <a:solidFill>
            <a:srgbClr val="FBFCFC"/>
          </a:solidFill>
          <a:ln w="6350">
            <a:solidFill>
              <a:srgbClr val="D3DBE0"/>
            </a:solidFill>
            <a:prstDash val="solid"/>
          </a:ln>
        </p:spPr>
      </p:sp>
      <p:sp>
        <p:nvSpPr>
          <p:cNvPr id="20" name="Text 18"/>
          <p:cNvSpPr/>
          <p:nvPr/>
        </p:nvSpPr>
        <p:spPr>
          <a:xfrm>
            <a:off x="8083550" y="2756991"/>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Manual replay, maybe a UI</a:t>
            </a:r>
            <a:endParaRPr lang="en-US" sz="1300" dirty="0"/>
          </a:p>
        </p:txBody>
      </p:sp>
      <p:sp>
        <p:nvSpPr>
          <p:cNvPr id="21" name="Text 19"/>
          <p:cNvSpPr/>
          <p:nvPr/>
        </p:nvSpPr>
        <p:spPr>
          <a:xfrm>
            <a:off x="8083550" y="3026172"/>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Ops console and API, four-eyes</a:t>
            </a:r>
            <a:endParaRPr lang="en-US" sz="1200" dirty="0"/>
          </a:p>
        </p:txBody>
      </p:sp>
      <p:sp>
        <p:nvSpPr>
          <p:cNvPr id="22" name="Shape 20"/>
          <p:cNvSpPr/>
          <p:nvPr/>
        </p:nvSpPr>
        <p:spPr>
          <a:xfrm>
            <a:off x="815975" y="3452217"/>
            <a:ext cx="3448050" cy="692051"/>
          </a:xfrm>
          <a:prstGeom prst="roundRect">
            <a:avLst>
              <a:gd name="adj" fmla="val 8717"/>
            </a:avLst>
          </a:prstGeom>
          <a:solidFill>
            <a:srgbClr val="FBFCFC"/>
          </a:solidFill>
          <a:ln w="6350">
            <a:solidFill>
              <a:srgbClr val="D3DBE0"/>
            </a:solidFill>
            <a:prstDash val="solid"/>
          </a:ln>
        </p:spPr>
      </p:sp>
      <p:sp>
        <p:nvSpPr>
          <p:cNvPr id="23" name="Text 21"/>
          <p:cNvSpPr/>
          <p:nvPr/>
        </p:nvSpPr>
        <p:spPr>
          <a:xfrm>
            <a:off x="971550" y="3556992"/>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Topic definitions will change</a:t>
            </a:r>
            <a:endParaRPr lang="en-US" sz="1300" dirty="0"/>
          </a:p>
        </p:txBody>
      </p:sp>
      <p:sp>
        <p:nvSpPr>
          <p:cNvPr id="24" name="Text 22"/>
          <p:cNvSpPr/>
          <p:nvPr/>
        </p:nvSpPr>
        <p:spPr>
          <a:xfrm>
            <a:off x="971550" y="38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FULL_TRANSITIVE schemas</a:t>
            </a:r>
            <a:endParaRPr lang="en-US" sz="1200" dirty="0"/>
          </a:p>
        </p:txBody>
      </p:sp>
      <p:sp>
        <p:nvSpPr>
          <p:cNvPr id="25" name="Shape 23"/>
          <p:cNvSpPr/>
          <p:nvPr/>
        </p:nvSpPr>
        <p:spPr>
          <a:xfrm>
            <a:off x="4371975" y="3452217"/>
            <a:ext cx="3448050" cy="692051"/>
          </a:xfrm>
          <a:prstGeom prst="roundRect">
            <a:avLst>
              <a:gd name="adj" fmla="val 8717"/>
            </a:avLst>
          </a:prstGeom>
          <a:solidFill>
            <a:srgbClr val="FBFCFC"/>
          </a:solidFill>
          <a:ln w="6350">
            <a:solidFill>
              <a:srgbClr val="D3DBE0"/>
            </a:solidFill>
            <a:prstDash val="solid"/>
          </a:ln>
        </p:spPr>
      </p:sp>
      <p:sp>
        <p:nvSpPr>
          <p:cNvPr id="26" name="Text 24"/>
          <p:cNvSpPr/>
          <p:nvPr/>
        </p:nvSpPr>
        <p:spPr>
          <a:xfrm>
            <a:off x="4527550" y="3556992"/>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Sudden unexpected load</a:t>
            </a:r>
            <a:endParaRPr lang="en-US" sz="1300" dirty="0"/>
          </a:p>
        </p:txBody>
      </p:sp>
      <p:sp>
        <p:nvSpPr>
          <p:cNvPr id="27" name="Text 25"/>
          <p:cNvSpPr/>
          <p:nvPr/>
        </p:nvSpPr>
        <p:spPr>
          <a:xfrm>
            <a:off x="4527550" y="38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Batch, coalesce, bisect, cap pods</a:t>
            </a:r>
            <a:endParaRPr lang="en-US" sz="1200" dirty="0"/>
          </a:p>
        </p:txBody>
      </p:sp>
      <p:sp>
        <p:nvSpPr>
          <p:cNvPr id="28" name="Shape 26"/>
          <p:cNvSpPr/>
          <p:nvPr/>
        </p:nvSpPr>
        <p:spPr>
          <a:xfrm>
            <a:off x="7927975" y="3452217"/>
            <a:ext cx="3448050" cy="692051"/>
          </a:xfrm>
          <a:prstGeom prst="roundRect">
            <a:avLst>
              <a:gd name="adj" fmla="val 8717"/>
            </a:avLst>
          </a:prstGeom>
          <a:solidFill>
            <a:srgbClr val="FBFCFC"/>
          </a:solidFill>
          <a:ln w="6350">
            <a:solidFill>
              <a:srgbClr val="D3DBE0"/>
            </a:solidFill>
            <a:prstDash val="solid"/>
          </a:ln>
        </p:spPr>
      </p:sp>
      <p:sp>
        <p:nvSpPr>
          <p:cNvPr id="29" name="Text 27"/>
          <p:cNvSpPr/>
          <p:nvPr/>
        </p:nvSpPr>
        <p:spPr>
          <a:xfrm>
            <a:off x="8083550" y="3556992"/>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Credit Change, outside the txn</a:t>
            </a:r>
            <a:endParaRPr lang="en-US" sz="1300" dirty="0"/>
          </a:p>
        </p:txBody>
      </p:sp>
      <p:sp>
        <p:nvSpPr>
          <p:cNvPr id="30" name="Text 28"/>
          <p:cNvSpPr/>
          <p:nvPr/>
        </p:nvSpPr>
        <p:spPr>
          <a:xfrm>
            <a:off x="8083550" y="38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Transactional outbox and postman</a:t>
            </a:r>
            <a:endParaRPr lang="en-US" sz="1200" dirty="0"/>
          </a:p>
        </p:txBody>
      </p:sp>
      <p:sp>
        <p:nvSpPr>
          <p:cNvPr id="31" name="Shape 29"/>
          <p:cNvSpPr/>
          <p:nvPr/>
        </p:nvSpPr>
        <p:spPr>
          <a:xfrm>
            <a:off x="815975" y="4252218"/>
            <a:ext cx="3448050" cy="692051"/>
          </a:xfrm>
          <a:prstGeom prst="roundRect">
            <a:avLst>
              <a:gd name="adj" fmla="val 8717"/>
            </a:avLst>
          </a:prstGeom>
          <a:solidFill>
            <a:srgbClr val="FBFCFC"/>
          </a:solidFill>
          <a:ln w="6350">
            <a:solidFill>
              <a:srgbClr val="D3DBE0"/>
            </a:solidFill>
            <a:prstDash val="solid"/>
          </a:ln>
        </p:spPr>
      </p:sp>
      <p:sp>
        <p:nvSpPr>
          <p:cNvPr id="32" name="Text 30"/>
          <p:cNvSpPr/>
          <p:nvPr/>
        </p:nvSpPr>
        <p:spPr>
          <a:xfrm>
            <a:off x="971550" y="4356993"/>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Evidence it was produced</a:t>
            </a:r>
            <a:endParaRPr lang="en-US" sz="1300" dirty="0"/>
          </a:p>
        </p:txBody>
      </p:sp>
      <p:sp>
        <p:nvSpPr>
          <p:cNvPr id="33" name="Text 31"/>
          <p:cNvSpPr/>
          <p:nvPr/>
        </p:nvSpPr>
        <p:spPr>
          <a:xfrm>
            <a:off x="971550" y="46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Kafka offset per announcement</a:t>
            </a:r>
            <a:endParaRPr lang="en-US" sz="1200" dirty="0"/>
          </a:p>
        </p:txBody>
      </p:sp>
      <p:sp>
        <p:nvSpPr>
          <p:cNvPr id="34" name="Shape 32"/>
          <p:cNvSpPr/>
          <p:nvPr/>
        </p:nvSpPr>
        <p:spPr>
          <a:xfrm>
            <a:off x="4371975" y="4252218"/>
            <a:ext cx="3448050" cy="692051"/>
          </a:xfrm>
          <a:prstGeom prst="roundRect">
            <a:avLst>
              <a:gd name="adj" fmla="val 8717"/>
            </a:avLst>
          </a:prstGeom>
          <a:solidFill>
            <a:srgbClr val="FBFCFC"/>
          </a:solidFill>
          <a:ln w="6350">
            <a:solidFill>
              <a:srgbClr val="D3DBE0"/>
            </a:solidFill>
            <a:prstDash val="solid"/>
          </a:ln>
        </p:spPr>
      </p:sp>
      <p:sp>
        <p:nvSpPr>
          <p:cNvPr id="35" name="Text 33"/>
          <p:cNvSpPr/>
          <p:nvPr/>
        </p:nvSpPr>
        <p:spPr>
          <a:xfrm>
            <a:off x="4527550" y="4356993"/>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Is a ledger required?</a:t>
            </a:r>
            <a:endParaRPr lang="en-US" sz="1300" dirty="0"/>
          </a:p>
        </p:txBody>
      </p:sp>
      <p:sp>
        <p:nvSpPr>
          <p:cNvPr id="36" name="Text 34"/>
          <p:cNvSpPr/>
          <p:nvPr/>
        </p:nvSpPr>
        <p:spPr>
          <a:xfrm>
            <a:off x="4527550" y="46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Yes, fingerprints for accounts</a:t>
            </a:r>
            <a:endParaRPr lang="en-US" sz="1200" dirty="0"/>
          </a:p>
        </p:txBody>
      </p:sp>
      <p:sp>
        <p:nvSpPr>
          <p:cNvPr id="37" name="Shape 35"/>
          <p:cNvSpPr/>
          <p:nvPr/>
        </p:nvSpPr>
        <p:spPr>
          <a:xfrm>
            <a:off x="7927975" y="4252218"/>
            <a:ext cx="3448050" cy="692051"/>
          </a:xfrm>
          <a:prstGeom prst="roundRect">
            <a:avLst>
              <a:gd name="adj" fmla="val 8717"/>
            </a:avLst>
          </a:prstGeom>
          <a:solidFill>
            <a:srgbClr val="FBFCFC"/>
          </a:solidFill>
          <a:ln w="6350">
            <a:solidFill>
              <a:srgbClr val="D3DBE0"/>
            </a:solidFill>
            <a:prstDash val="solid"/>
          </a:ln>
        </p:spPr>
      </p:sp>
      <p:sp>
        <p:nvSpPr>
          <p:cNvPr id="38" name="Text 36"/>
          <p:cNvSpPr/>
          <p:nvPr/>
        </p:nvSpPr>
        <p:spPr>
          <a:xfrm>
            <a:off x="8083550" y="4356993"/>
            <a:ext cx="3231007"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Consistent Splunk logging</a:t>
            </a:r>
            <a:endParaRPr lang="en-US" sz="1300" dirty="0"/>
          </a:p>
        </p:txBody>
      </p:sp>
      <p:sp>
        <p:nvSpPr>
          <p:cNvPr id="39" name="Text 37"/>
          <p:cNvSpPr/>
          <p:nvPr/>
        </p:nvSpPr>
        <p:spPr>
          <a:xfrm>
            <a:off x="8083550" y="4626173"/>
            <a:ext cx="323100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6A7E"/>
                </a:solidFill>
                <a:latin typeface="IBM Plex Sans" pitchFamily="34" charset="0"/>
                <a:ea typeface="IBM Plex Sans" pitchFamily="34" charset="-122"/>
                <a:cs typeface="IBM Plex Sans" pitchFamily="34" charset="-120"/>
              </a:rPr>
              <a:t>1 summary/min plus every failure</a:t>
            </a:r>
            <a:endParaRPr lang="en-US" sz="1200" dirty="0"/>
          </a:p>
        </p:txBody>
      </p:sp>
      <p:sp>
        <p:nvSpPr>
          <p:cNvPr id="40" name="Text 3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41" name="Text 3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THE MODEL</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Think of IOC as a post room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5405934" cy="3336330"/>
        </p:xfrm>
        <a:graphic>
          <a:graphicData uri="http://schemas.openxmlformats.org/drawingml/2006/table">
            <a:tbl>
              <a:tblPr/>
              <a:tblGrid>
                <a:gridCol w="2054255">
                  <a:extLst>
                    <a:ext uri="{9D8B030D-6E8A-4147-A177-3AD203B41FA5}">
                      <a16:colId xmlns:a16="http://schemas.microsoft.com/office/drawing/2014/main" val="20000"/>
                    </a:ext>
                  </a:extLst>
                </a:gridCol>
                <a:gridCol w="3351679">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Post room</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In IOC</a:t>
                      </a:r>
                      <a:endParaRPr lang="en-US" sz="1300" dirty="0">
                        <a:latin typeface="IBM Plex Sans" charset="0"/>
                        <a:ea typeface="IBM Plex Sans" charset="0"/>
                        <a:cs typeface="IBM Plex Sans" charset="0"/>
                      </a:endParaRPr>
                    </a:p>
                  </a:txBody>
                  <a:tcPr marL="57785" marR="57785" marT="57785" marB="57785">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Conveyor belt</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A Kafka topic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Letter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An event (“Account IE123 is now €1,050”)</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Position on the belt</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The offset, e.g. 4,812</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Clerk</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The consumer for that topic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4"/>
                  </a:ext>
                </a:extLst>
              </a:tr>
              <a:tr h="590352">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Register, one line per letter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The event ledger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Failure tray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One table for every topic</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Announcement tray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The outbox</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6536234" y="1899841"/>
            <a:ext cx="4842966" cy="3349030"/>
          </a:xfrm>
          <a:prstGeom prst="roundRect">
            <a:avLst>
              <a:gd name="adj" fmla="val 2275"/>
            </a:avLst>
          </a:prstGeom>
          <a:solidFill>
            <a:srgbClr val="10202A"/>
          </a:solidFill>
          <a:ln/>
        </p:spPr>
      </p:sp>
      <p:sp>
        <p:nvSpPr>
          <p:cNvPr id="6" name="Text 3"/>
          <p:cNvSpPr/>
          <p:nvPr/>
        </p:nvSpPr>
        <p:spPr>
          <a:xfrm>
            <a:off x="6790234" y="2153841"/>
            <a:ext cx="4465015"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EF3F5"/>
                </a:solidFill>
                <a:latin typeface="IBM Plex Sans" pitchFamily="34" charset="0"/>
                <a:ea typeface="IBM Plex Sans" pitchFamily="34" charset="-122"/>
                <a:cs typeface="IBM Plex Sans" pitchFamily="34" charset="-120"/>
              </a:rPr>
              <a:t>A topic team writes four things</a:t>
            </a:r>
            <a:endParaRPr lang="en-US" sz="1700" dirty="0"/>
          </a:p>
        </p:txBody>
      </p:sp>
      <p:sp>
        <p:nvSpPr>
          <p:cNvPr id="7" name="Text 4"/>
          <p:cNvSpPr/>
          <p:nvPr/>
        </p:nvSpPr>
        <p:spPr>
          <a:xfrm>
            <a:off x="6847086" y="2539901"/>
            <a:ext cx="4400543" cy="1163241"/>
          </a:xfrm>
          <a:prstGeom prst="rect">
            <a:avLst/>
          </a:prstGeom>
          <a:noFill/>
          <a:ln/>
        </p:spPr>
        <p:txBody>
          <a:bodyPr wrap="square" lIns="0" tIns="0" rIns="0" bIns="0" rtlCol="0" anchor="t">
            <a:normAutofit/>
          </a:bodyPr>
          <a:lstStyle/>
          <a:p>
            <a:pPr marL="197148" indent="-197148" algn="l">
              <a:lnSpc>
                <a:spcPts val="2240"/>
              </a:lnSpc>
              <a:buSzPct val="100000"/>
              <a:buFontTx/>
              <a:buAutoNum type="arabicPeriod"/>
            </a:pPr>
            <a:r>
              <a:rPr lang="en-US" sz="1400" b="1" dirty="0">
                <a:solidFill>
                  <a:srgbClr val="EEF3F5"/>
                </a:solidFill>
                <a:latin typeface="IBM Plex Sans" pitchFamily="34" charset="0"/>
                <a:ea typeface="IBM Plex Sans" pitchFamily="34" charset="-122"/>
                <a:cs typeface="IBM Plex Sans" pitchFamily="34" charset="-120"/>
              </a:rPr>
              <a:t>Mapper</a:t>
            </a:r>
            <a:r>
              <a:rPr lang="en-US" sz="1400" dirty="0">
                <a:solidFill>
                  <a:srgbClr val="EEF3F5"/>
                </a:solidFill>
                <a:latin typeface="IBM Plex Sans" pitchFamily="34" charset="0"/>
                <a:ea typeface="IBM Plex Sans" pitchFamily="34" charset="-122"/>
                <a:cs typeface="IBM Plex Sans" pitchFamily="34" charset="-120"/>
              </a:rPr>
              <a:t>: Avro to our model</a:t>
            </a:r>
            <a:endParaRPr lang="en-US" sz="1400" dirty="0"/>
          </a:p>
          <a:p>
            <a:pPr marL="197148" indent="-197148" algn="l">
              <a:lnSpc>
                <a:spcPts val="2240"/>
              </a:lnSpc>
              <a:buSzPct val="100000"/>
              <a:buFontTx/>
              <a:buAutoNum type="arabicPeriod"/>
            </a:pPr>
            <a:r>
              <a:rPr lang="en-US" sz="1400" b="1" dirty="0">
                <a:solidFill>
                  <a:srgbClr val="EEF3F5"/>
                </a:solidFill>
                <a:latin typeface="IBM Plex Sans" pitchFamily="34" charset="0"/>
                <a:ea typeface="IBM Plex Sans" pitchFamily="34" charset="-122"/>
                <a:cs typeface="IBM Plex Sans" pitchFamily="34" charset="-120"/>
              </a:rPr>
              <a:t>Validator</a:t>
            </a:r>
            <a:r>
              <a:rPr lang="en-US" sz="1400" dirty="0">
                <a:solidFill>
                  <a:srgbClr val="EEF3F5"/>
                </a:solidFill>
                <a:latin typeface="IBM Plex Sans" pitchFamily="34" charset="0"/>
                <a:ea typeface="IBM Plex Sans" pitchFamily="34" charset="-122"/>
                <a:cs typeface="IBM Plex Sans" pitchFamily="34" charset="-120"/>
              </a:rPr>
              <a:t>: the topic contract</a:t>
            </a:r>
            <a:endParaRPr lang="en-US" sz="1400" dirty="0"/>
          </a:p>
          <a:p>
            <a:pPr marL="197148" indent="-197148" algn="l">
              <a:lnSpc>
                <a:spcPts val="2240"/>
              </a:lnSpc>
              <a:buSzPct val="100000"/>
              <a:buFontTx/>
              <a:buAutoNum type="arabicPeriod"/>
            </a:pPr>
            <a:r>
              <a:rPr lang="en-US" sz="1400" b="1" dirty="0">
                <a:solidFill>
                  <a:srgbClr val="EEF3F5"/>
                </a:solidFill>
                <a:latin typeface="IBM Plex Sans" pitchFamily="34" charset="0"/>
                <a:ea typeface="IBM Plex Sans" pitchFamily="34" charset="-122"/>
                <a:cs typeface="IBM Plex Sans" pitchFamily="34" charset="-120"/>
              </a:rPr>
              <a:t>Repository</a:t>
            </a:r>
            <a:r>
              <a:rPr lang="en-US" sz="1400" dirty="0">
                <a:solidFill>
                  <a:srgbClr val="EEF3F5"/>
                </a:solidFill>
                <a:latin typeface="IBM Plex Sans" pitchFamily="34" charset="0"/>
                <a:ea typeface="IBM Plex Sans" pitchFamily="34" charset="-122"/>
                <a:cs typeface="IBM Plex Sans" pitchFamily="34" charset="-120"/>
              </a:rPr>
              <a:t>: save the state</a:t>
            </a:r>
            <a:endParaRPr lang="en-US" sz="1400" dirty="0"/>
          </a:p>
          <a:p>
            <a:pPr marL="197148" indent="-197148" algn="l">
              <a:lnSpc>
                <a:spcPts val="2240"/>
              </a:lnSpc>
              <a:buSzPct val="100000"/>
              <a:buFontTx/>
              <a:buAutoNum type="arabicPeriod"/>
            </a:pPr>
            <a:r>
              <a:rPr lang="en-US" sz="1400" b="1" dirty="0">
                <a:solidFill>
                  <a:srgbClr val="EEF3F5"/>
                </a:solidFill>
                <a:latin typeface="IBM Plex Sans" pitchFamily="34" charset="0"/>
                <a:ea typeface="IBM Plex Sans" pitchFamily="34" charset="-122"/>
                <a:cs typeface="IBM Plex Sans" pitchFamily="34" charset="-120"/>
              </a:rPr>
              <a:t>Materiality rule</a:t>
            </a:r>
            <a:r>
              <a:rPr lang="en-US" sz="1400" dirty="0">
                <a:solidFill>
                  <a:srgbClr val="EEF3F5"/>
                </a:solidFill>
                <a:latin typeface="IBM Plex Sans" pitchFamily="34" charset="0"/>
                <a:ea typeface="IBM Plex Sans" pitchFamily="34" charset="-122"/>
                <a:cs typeface="IBM Plex Sans" pitchFamily="34" charset="-120"/>
              </a:rPr>
              <a:t>: announce or not</a:t>
            </a:r>
            <a:endParaRPr lang="en-US" sz="1400" dirty="0"/>
          </a:p>
        </p:txBody>
      </p:sp>
      <p:sp>
        <p:nvSpPr>
          <p:cNvPr id="8" name="Text 5"/>
          <p:cNvSpPr/>
          <p:nvPr/>
        </p:nvSpPr>
        <p:spPr>
          <a:xfrm>
            <a:off x="6790234" y="3804741"/>
            <a:ext cx="446501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A9BAC3"/>
                </a:solidFill>
                <a:latin typeface="IBM Plex Sans" pitchFamily="34" charset="0"/>
                <a:ea typeface="IBM Plex Sans" pitchFamily="34" charset="-122"/>
                <a:cs typeface="IBM Plex Sans" pitchFamily="34" charset="-120"/>
              </a:rPr>
              <a:t>Everything else is the shared platform: ledger, dedup, failure tray, replay, outbox, logging, metrics and the console.</a:t>
            </a:r>
            <a:endParaRPr lang="en-US" sz="1300" dirty="0"/>
          </a:p>
        </p:txBody>
      </p:sp>
      <p:sp>
        <p:nvSpPr>
          <p:cNvPr id="9" name="Text 6"/>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HOW IT WORKS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What happens to every record</a:t>
            </a:r>
            <a:endParaRPr lang="en-US" sz="3200" dirty="0"/>
          </a:p>
        </p:txBody>
      </p:sp>
      <p:sp>
        <p:nvSpPr>
          <p:cNvPr id="4" name="Shape 2"/>
          <p:cNvSpPr/>
          <p:nvPr/>
        </p:nvSpPr>
        <p:spPr>
          <a:xfrm>
            <a:off x="815975" y="1955403"/>
            <a:ext cx="1781770" cy="987326"/>
          </a:xfrm>
          <a:prstGeom prst="roundRect">
            <a:avLst>
              <a:gd name="adj" fmla="val 6110"/>
            </a:avLst>
          </a:prstGeom>
          <a:solidFill>
            <a:srgbClr val="FBFCFC"/>
          </a:solidFill>
          <a:ln w="6350">
            <a:solidFill>
              <a:srgbClr val="D3DBE0"/>
            </a:solidFill>
            <a:prstDash val="solid"/>
          </a:ln>
        </p:spPr>
      </p:sp>
      <p:sp>
        <p:nvSpPr>
          <p:cNvPr id="5" name="Text 3"/>
          <p:cNvSpPr/>
          <p:nvPr/>
        </p:nvSpPr>
        <p:spPr>
          <a:xfrm>
            <a:off x="946150" y="2085578"/>
            <a:ext cx="15722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946150" y="2349698"/>
            <a:ext cx="15722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2B"/>
                </a:solidFill>
                <a:latin typeface="IBM Plex Sans" pitchFamily="34" charset="0"/>
                <a:ea typeface="IBM Plex Sans" pitchFamily="34" charset="-122"/>
                <a:cs typeface="IBM Plex Sans" pitchFamily="34" charset="-120"/>
              </a:rPr>
              <a:t>Read the bytes</a:t>
            </a:r>
            <a:endParaRPr lang="en-US" sz="1300" dirty="0"/>
          </a:p>
        </p:txBody>
      </p:sp>
      <p:sp>
        <p:nvSpPr>
          <p:cNvPr id="7" name="Text 5"/>
          <p:cNvSpPr/>
          <p:nvPr/>
        </p:nvSpPr>
        <p:spPr>
          <a:xfrm>
            <a:off x="946150" y="2606873"/>
            <a:ext cx="157222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B5B67"/>
                </a:solidFill>
                <a:latin typeface="IBM Plex Sans" pitchFamily="34" charset="0"/>
                <a:ea typeface="IBM Plex Sans" pitchFamily="34" charset="-122"/>
                <a:cs typeface="IBM Plex Sans" pitchFamily="34" charset="-120"/>
              </a:rPr>
              <a:t>No poison pills</a:t>
            </a:r>
            <a:endParaRPr lang="en-US" sz="1200" dirty="0"/>
          </a:p>
        </p:txBody>
      </p:sp>
      <p:pic>
        <p:nvPicPr>
          <p:cNvPr id="8" name="Image 0" descr="arrow-right"/>
          <p:cNvPicPr>
            <a:picLocks noChangeAspect="1"/>
          </p:cNvPicPr>
          <p:nvPr/>
        </p:nvPicPr>
        <p:blipFill>
          <a:blip r:embed="rId3"/>
          <a:srcRect/>
          <a:stretch/>
        </p:blipFill>
        <p:spPr>
          <a:xfrm>
            <a:off x="2677120" y="2372816"/>
            <a:ext cx="254000" cy="152400"/>
          </a:xfrm>
          <a:prstGeom prst="rect">
            <a:avLst/>
          </a:prstGeom>
        </p:spPr>
      </p:pic>
      <p:sp>
        <p:nvSpPr>
          <p:cNvPr id="9" name="Shape 6"/>
          <p:cNvSpPr/>
          <p:nvPr/>
        </p:nvSpPr>
        <p:spPr>
          <a:xfrm>
            <a:off x="3010495" y="1852216"/>
            <a:ext cx="1781870" cy="1193701"/>
          </a:xfrm>
          <a:prstGeom prst="roundRect">
            <a:avLst>
              <a:gd name="adj" fmla="val 5054"/>
            </a:avLst>
          </a:prstGeom>
          <a:solidFill>
            <a:srgbClr val="FBFCFC"/>
          </a:solidFill>
          <a:ln w="6350">
            <a:solidFill>
              <a:srgbClr val="D3DBE0"/>
            </a:solidFill>
            <a:prstDash val="solid"/>
          </a:ln>
        </p:spPr>
      </p:sp>
      <p:sp>
        <p:nvSpPr>
          <p:cNvPr id="10" name="Text 7"/>
          <p:cNvSpPr/>
          <p:nvPr/>
        </p:nvSpPr>
        <p:spPr>
          <a:xfrm>
            <a:off x="3140670" y="1982391"/>
            <a:ext cx="15723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2</a:t>
            </a:r>
            <a:endParaRPr lang="en-US" sz="1200" dirty="0"/>
          </a:p>
        </p:txBody>
      </p:sp>
      <p:sp>
        <p:nvSpPr>
          <p:cNvPr id="11" name="Text 8"/>
          <p:cNvSpPr/>
          <p:nvPr/>
        </p:nvSpPr>
        <p:spPr>
          <a:xfrm>
            <a:off x="3140670" y="2246511"/>
            <a:ext cx="157232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2B"/>
                </a:solidFill>
                <a:latin typeface="IBM Plex Sans" pitchFamily="34" charset="0"/>
                <a:ea typeface="IBM Plex Sans" pitchFamily="34" charset="-122"/>
                <a:cs typeface="IBM Plex Sans" pitchFamily="34" charset="-120"/>
              </a:rPr>
              <a:t>Decode and validate</a:t>
            </a:r>
            <a:endParaRPr lang="en-US" sz="1300" dirty="0"/>
          </a:p>
        </p:txBody>
      </p:sp>
      <p:sp>
        <p:nvSpPr>
          <p:cNvPr id="12" name="Text 9"/>
          <p:cNvSpPr/>
          <p:nvPr/>
        </p:nvSpPr>
        <p:spPr>
          <a:xfrm>
            <a:off x="3140670" y="2710061"/>
            <a:ext cx="157232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B5B67"/>
                </a:solidFill>
                <a:latin typeface="IBM Plex Sans" pitchFamily="34" charset="0"/>
                <a:ea typeface="IBM Plex Sans" pitchFamily="34" charset="-122"/>
                <a:cs typeface="IBM Plex Sans" pitchFamily="34" charset="-120"/>
              </a:rPr>
              <a:t>Bad: to the tray</a:t>
            </a:r>
            <a:endParaRPr lang="en-US" sz="1200" dirty="0"/>
          </a:p>
        </p:txBody>
      </p:sp>
      <p:pic>
        <p:nvPicPr>
          <p:cNvPr id="13" name="Image 1" descr="arrow-right"/>
          <p:cNvPicPr>
            <a:picLocks noChangeAspect="1"/>
          </p:cNvPicPr>
          <p:nvPr/>
        </p:nvPicPr>
        <p:blipFill>
          <a:blip r:embed="rId3"/>
          <a:srcRect/>
          <a:stretch/>
        </p:blipFill>
        <p:spPr>
          <a:xfrm>
            <a:off x="4871740" y="2372816"/>
            <a:ext cx="254000" cy="152400"/>
          </a:xfrm>
          <a:prstGeom prst="rect">
            <a:avLst/>
          </a:prstGeom>
        </p:spPr>
      </p:pic>
      <p:sp>
        <p:nvSpPr>
          <p:cNvPr id="14" name="Shape 10"/>
          <p:cNvSpPr/>
          <p:nvPr/>
        </p:nvSpPr>
        <p:spPr>
          <a:xfrm>
            <a:off x="5205115" y="1955403"/>
            <a:ext cx="1781770" cy="987326"/>
          </a:xfrm>
          <a:prstGeom prst="roundRect">
            <a:avLst>
              <a:gd name="adj" fmla="val 6110"/>
            </a:avLst>
          </a:prstGeom>
          <a:solidFill>
            <a:srgbClr val="FBFCFC"/>
          </a:solidFill>
          <a:ln w="6350">
            <a:solidFill>
              <a:srgbClr val="D3DBE0"/>
            </a:solidFill>
            <a:prstDash val="solid"/>
          </a:ln>
        </p:spPr>
      </p:sp>
      <p:sp>
        <p:nvSpPr>
          <p:cNvPr id="15" name="Text 11"/>
          <p:cNvSpPr/>
          <p:nvPr/>
        </p:nvSpPr>
        <p:spPr>
          <a:xfrm>
            <a:off x="5335290" y="2085578"/>
            <a:ext cx="15722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3</a:t>
            </a:r>
            <a:endParaRPr lang="en-US" sz="1200" dirty="0"/>
          </a:p>
        </p:txBody>
      </p:sp>
      <p:sp>
        <p:nvSpPr>
          <p:cNvPr id="16" name="Text 12"/>
          <p:cNvSpPr/>
          <p:nvPr/>
        </p:nvSpPr>
        <p:spPr>
          <a:xfrm>
            <a:off x="5335290" y="2349698"/>
            <a:ext cx="15722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2B"/>
                </a:solidFill>
                <a:latin typeface="IBM Plex Sans" pitchFamily="34" charset="0"/>
                <a:ea typeface="IBM Plex Sans" pitchFamily="34" charset="-122"/>
                <a:cs typeface="IBM Plex Sans" pitchFamily="34" charset="-120"/>
              </a:rPr>
              <a:t>Seen it before?</a:t>
            </a:r>
            <a:endParaRPr lang="en-US" sz="1300" dirty="0"/>
          </a:p>
        </p:txBody>
      </p:sp>
      <p:sp>
        <p:nvSpPr>
          <p:cNvPr id="17" name="Text 13"/>
          <p:cNvSpPr/>
          <p:nvPr/>
        </p:nvSpPr>
        <p:spPr>
          <a:xfrm>
            <a:off x="5335290" y="2606873"/>
            <a:ext cx="157222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B5B67"/>
                </a:solidFill>
                <a:latin typeface="IBM Plex Sans" pitchFamily="34" charset="0"/>
                <a:ea typeface="IBM Plex Sans" pitchFamily="34" charset="-122"/>
                <a:cs typeface="IBM Plex Sans" pitchFamily="34" charset="-120"/>
              </a:rPr>
              <a:t>By offset and eventId</a:t>
            </a:r>
            <a:endParaRPr lang="en-US" sz="1200" dirty="0"/>
          </a:p>
        </p:txBody>
      </p:sp>
      <p:pic>
        <p:nvPicPr>
          <p:cNvPr id="18" name="Image 2" descr="arrow-right"/>
          <p:cNvPicPr>
            <a:picLocks noChangeAspect="1"/>
          </p:cNvPicPr>
          <p:nvPr/>
        </p:nvPicPr>
        <p:blipFill>
          <a:blip r:embed="rId3"/>
          <a:srcRect/>
          <a:stretch/>
        </p:blipFill>
        <p:spPr>
          <a:xfrm>
            <a:off x="7066260" y="2372816"/>
            <a:ext cx="254000" cy="152400"/>
          </a:xfrm>
          <a:prstGeom prst="rect">
            <a:avLst/>
          </a:prstGeom>
        </p:spPr>
      </p:pic>
      <p:sp>
        <p:nvSpPr>
          <p:cNvPr id="19" name="Shape 14"/>
          <p:cNvSpPr/>
          <p:nvPr/>
        </p:nvSpPr>
        <p:spPr>
          <a:xfrm>
            <a:off x="7399635" y="1852216"/>
            <a:ext cx="1781870" cy="1193701"/>
          </a:xfrm>
          <a:prstGeom prst="roundRect">
            <a:avLst>
              <a:gd name="adj" fmla="val 5054"/>
            </a:avLst>
          </a:prstGeom>
          <a:solidFill>
            <a:srgbClr val="FBFCFC"/>
          </a:solidFill>
          <a:ln w="6350">
            <a:solidFill>
              <a:srgbClr val="D3DBE0"/>
            </a:solidFill>
            <a:prstDash val="solid"/>
          </a:ln>
        </p:spPr>
      </p:sp>
      <p:sp>
        <p:nvSpPr>
          <p:cNvPr id="20" name="Text 15"/>
          <p:cNvSpPr/>
          <p:nvPr/>
        </p:nvSpPr>
        <p:spPr>
          <a:xfrm>
            <a:off x="7529810" y="1982391"/>
            <a:ext cx="15723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4</a:t>
            </a:r>
            <a:endParaRPr lang="en-US" sz="1200" dirty="0"/>
          </a:p>
        </p:txBody>
      </p:sp>
      <p:sp>
        <p:nvSpPr>
          <p:cNvPr id="21" name="Text 16"/>
          <p:cNvSpPr/>
          <p:nvPr/>
        </p:nvSpPr>
        <p:spPr>
          <a:xfrm>
            <a:off x="7529810" y="2246511"/>
            <a:ext cx="1572320" cy="438150"/>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2B"/>
                </a:solidFill>
                <a:latin typeface="IBM Plex Sans" pitchFamily="34" charset="0"/>
                <a:ea typeface="IBM Plex Sans" pitchFamily="34" charset="-122"/>
                <a:cs typeface="IBM Plex Sans" pitchFamily="34" charset="-120"/>
              </a:rPr>
              <a:t>Newest in the batch?</a:t>
            </a:r>
            <a:endParaRPr lang="en-US" sz="1300" dirty="0"/>
          </a:p>
        </p:txBody>
      </p:sp>
      <p:sp>
        <p:nvSpPr>
          <p:cNvPr id="22" name="Text 17"/>
          <p:cNvSpPr/>
          <p:nvPr/>
        </p:nvSpPr>
        <p:spPr>
          <a:xfrm>
            <a:off x="7529810" y="2710061"/>
            <a:ext cx="157232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B5B67"/>
                </a:solidFill>
                <a:latin typeface="IBM Plex Sans" pitchFamily="34" charset="0"/>
                <a:ea typeface="IBM Plex Sans" pitchFamily="34" charset="-122"/>
                <a:cs typeface="IBM Plex Sans" pitchFamily="34" charset="-120"/>
              </a:rPr>
              <a:t>Others: superseded</a:t>
            </a:r>
            <a:endParaRPr lang="en-US" sz="1200" dirty="0"/>
          </a:p>
        </p:txBody>
      </p:sp>
      <p:pic>
        <p:nvPicPr>
          <p:cNvPr id="23" name="Image 3" descr="arrow-right"/>
          <p:cNvPicPr>
            <a:picLocks noChangeAspect="1"/>
          </p:cNvPicPr>
          <p:nvPr/>
        </p:nvPicPr>
        <p:blipFill>
          <a:blip r:embed="rId3"/>
          <a:srcRect/>
          <a:stretch/>
        </p:blipFill>
        <p:spPr>
          <a:xfrm>
            <a:off x="9260880" y="2372816"/>
            <a:ext cx="254000" cy="152400"/>
          </a:xfrm>
          <a:prstGeom prst="rect">
            <a:avLst/>
          </a:prstGeom>
        </p:spPr>
      </p:pic>
      <p:sp>
        <p:nvSpPr>
          <p:cNvPr id="24" name="Shape 18"/>
          <p:cNvSpPr/>
          <p:nvPr/>
        </p:nvSpPr>
        <p:spPr>
          <a:xfrm>
            <a:off x="9594255" y="1955403"/>
            <a:ext cx="1781770" cy="987326"/>
          </a:xfrm>
          <a:prstGeom prst="roundRect">
            <a:avLst>
              <a:gd name="adj" fmla="val 6110"/>
            </a:avLst>
          </a:prstGeom>
          <a:solidFill>
            <a:srgbClr val="FBFCFC"/>
          </a:solidFill>
          <a:ln w="6350">
            <a:solidFill>
              <a:srgbClr val="D3DBE0"/>
            </a:solidFill>
            <a:prstDash val="solid"/>
          </a:ln>
        </p:spPr>
      </p:sp>
      <p:sp>
        <p:nvSpPr>
          <p:cNvPr id="25" name="Text 19"/>
          <p:cNvSpPr/>
          <p:nvPr/>
        </p:nvSpPr>
        <p:spPr>
          <a:xfrm>
            <a:off x="9724430" y="2085578"/>
            <a:ext cx="1572220"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5</a:t>
            </a:r>
            <a:endParaRPr lang="en-US" sz="1200" dirty="0"/>
          </a:p>
        </p:txBody>
      </p:sp>
      <p:sp>
        <p:nvSpPr>
          <p:cNvPr id="26" name="Text 20"/>
          <p:cNvSpPr/>
          <p:nvPr/>
        </p:nvSpPr>
        <p:spPr>
          <a:xfrm>
            <a:off x="9724430" y="2349698"/>
            <a:ext cx="1648420" cy="231775"/>
          </a:xfrm>
          <a:prstGeom prst="rect">
            <a:avLst/>
          </a:prstGeom>
          <a:noFill/>
          <a:ln/>
        </p:spPr>
        <p:txBody>
          <a:bodyPr wrap="square" lIns="0" tIns="0" rIns="0" bIns="0" rtlCol="0" anchor="t">
            <a:normAutofit/>
          </a:bodyPr>
          <a:lstStyle/>
          <a:p>
            <a:pPr marL="0" indent="0" algn="l">
              <a:lnSpc>
                <a:spcPts val="1625"/>
              </a:lnSpc>
              <a:buNone/>
            </a:pPr>
            <a:r>
              <a:rPr lang="en-US" sz="1300" b="1" dirty="0">
                <a:solidFill>
                  <a:srgbClr val="14212B"/>
                </a:solidFill>
                <a:latin typeface="IBM Plex Sans" pitchFamily="34" charset="0"/>
                <a:ea typeface="IBM Plex Sans" pitchFamily="34" charset="-122"/>
                <a:cs typeface="IBM Plex Sans" pitchFamily="34" charset="-120"/>
              </a:rPr>
              <a:t>Newer than stored?</a:t>
            </a:r>
            <a:endParaRPr lang="en-US" sz="1300" dirty="0"/>
          </a:p>
        </p:txBody>
      </p:sp>
      <p:sp>
        <p:nvSpPr>
          <p:cNvPr id="27" name="Text 21"/>
          <p:cNvSpPr/>
          <p:nvPr/>
        </p:nvSpPr>
        <p:spPr>
          <a:xfrm>
            <a:off x="9724430" y="2606873"/>
            <a:ext cx="1572220" cy="23108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B5B67"/>
                </a:solidFill>
                <a:latin typeface="IBM Plex Sans" pitchFamily="34" charset="0"/>
                <a:ea typeface="IBM Plex Sans" pitchFamily="34" charset="-122"/>
                <a:cs typeface="IBM Plex Sans" pitchFamily="34" charset="-120"/>
              </a:rPr>
              <a:t>Older: stale</a:t>
            </a:r>
            <a:endParaRPr lang="en-US" sz="1200" dirty="0"/>
          </a:p>
        </p:txBody>
      </p:sp>
      <p:sp>
        <p:nvSpPr>
          <p:cNvPr id="28" name="Shape 22"/>
          <p:cNvSpPr/>
          <p:nvPr/>
        </p:nvSpPr>
        <p:spPr>
          <a:xfrm>
            <a:off x="812800" y="3201491"/>
            <a:ext cx="7369175" cy="1104801"/>
          </a:xfrm>
          <a:prstGeom prst="roundRect">
            <a:avLst>
              <a:gd name="adj" fmla="val 6897"/>
            </a:avLst>
          </a:prstGeom>
          <a:solidFill>
            <a:srgbClr val="10202A"/>
          </a:solidFill>
          <a:ln/>
        </p:spPr>
      </p:sp>
      <p:sp>
        <p:nvSpPr>
          <p:cNvPr id="29" name="Text 23"/>
          <p:cNvSpPr/>
          <p:nvPr/>
        </p:nvSpPr>
        <p:spPr>
          <a:xfrm>
            <a:off x="1016000" y="3379291"/>
            <a:ext cx="717165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0D3"/>
                </a:solidFill>
                <a:latin typeface="IBM Plex Sans" pitchFamily="34" charset="0"/>
                <a:ea typeface="IBM Plex Sans" pitchFamily="34" charset="-122"/>
                <a:cs typeface="IBM Plex Sans" pitchFamily="34" charset="-120"/>
              </a:rPr>
              <a:t>6 · ONE DATABASE TRANSACTION</a:t>
            </a:r>
            <a:endParaRPr lang="en-US" sz="1200" dirty="0"/>
          </a:p>
        </p:txBody>
      </p:sp>
      <p:sp>
        <p:nvSpPr>
          <p:cNvPr id="30" name="Text 24"/>
          <p:cNvSpPr/>
          <p:nvPr/>
        </p:nvSpPr>
        <p:spPr>
          <a:xfrm>
            <a:off x="1016000" y="3694212"/>
            <a:ext cx="2253159" cy="434280"/>
          </a:xfrm>
          <a:prstGeom prst="roundRect">
            <a:avLst>
              <a:gd name="adj" fmla="val 11698"/>
            </a:avLst>
          </a:prstGeom>
          <a:solidFill>
            <a:srgbClr val="1B3442"/>
          </a:solidFill>
          <a:ln/>
        </p:spPr>
        <p:txBody>
          <a:bodyPr wrap="square" lIns="112121" tIns="86721" rIns="52146" bIns="61321" rtlCol="0" anchor="t">
            <a:normAutofit/>
          </a:bodyPr>
          <a:lstStyle/>
          <a:p>
            <a:pPr marL="0" indent="0" algn="l">
              <a:lnSpc>
                <a:spcPts val="1820"/>
              </a:lnSpc>
              <a:buNone/>
            </a:pPr>
            <a:r>
              <a:rPr lang="en-US" sz="1300" dirty="0">
                <a:solidFill>
                  <a:srgbClr val="EEF3F5"/>
                </a:solidFill>
                <a:latin typeface="IBM Plex Sans" pitchFamily="34" charset="0"/>
                <a:ea typeface="IBM Plex Sans" pitchFamily="34" charset="-122"/>
                <a:cs typeface="IBM Plex Sans" pitchFamily="34" charset="-120"/>
              </a:rPr>
              <a:t>Account state saved</a:t>
            </a:r>
            <a:endParaRPr lang="en-US" sz="1300" dirty="0"/>
          </a:p>
        </p:txBody>
      </p:sp>
      <p:sp>
        <p:nvSpPr>
          <p:cNvPr id="31" name="Text 25"/>
          <p:cNvSpPr/>
          <p:nvPr/>
        </p:nvSpPr>
        <p:spPr>
          <a:xfrm>
            <a:off x="3370759" y="3694212"/>
            <a:ext cx="2253258" cy="434280"/>
          </a:xfrm>
          <a:prstGeom prst="roundRect">
            <a:avLst>
              <a:gd name="adj" fmla="val 11698"/>
            </a:avLst>
          </a:prstGeom>
          <a:solidFill>
            <a:srgbClr val="1B3442"/>
          </a:solidFill>
          <a:ln/>
        </p:spPr>
        <p:txBody>
          <a:bodyPr wrap="square" lIns="112121" tIns="86721" rIns="52143" bIns="61321" rtlCol="0" anchor="t">
            <a:normAutofit/>
          </a:bodyPr>
          <a:lstStyle/>
          <a:p>
            <a:pPr marL="0" indent="0" algn="l">
              <a:lnSpc>
                <a:spcPts val="1820"/>
              </a:lnSpc>
              <a:buNone/>
            </a:pPr>
            <a:r>
              <a:rPr lang="en-US" sz="1300" dirty="0">
                <a:solidFill>
                  <a:srgbClr val="EEF3F5"/>
                </a:solidFill>
                <a:latin typeface="IBM Plex Sans" pitchFamily="34" charset="0"/>
                <a:ea typeface="IBM Plex Sans" pitchFamily="34" charset="-122"/>
                <a:cs typeface="IBM Plex Sans" pitchFamily="34" charset="-120"/>
              </a:rPr>
              <a:t>One ledger line per record</a:t>
            </a:r>
            <a:endParaRPr lang="en-US" sz="1300" dirty="0"/>
          </a:p>
        </p:txBody>
      </p:sp>
      <p:sp>
        <p:nvSpPr>
          <p:cNvPr id="32" name="Text 26"/>
          <p:cNvSpPr/>
          <p:nvPr/>
        </p:nvSpPr>
        <p:spPr>
          <a:xfrm>
            <a:off x="5725616" y="3694212"/>
            <a:ext cx="2253159" cy="434280"/>
          </a:xfrm>
          <a:prstGeom prst="roundRect">
            <a:avLst>
              <a:gd name="adj" fmla="val 11698"/>
            </a:avLst>
          </a:prstGeom>
          <a:solidFill>
            <a:srgbClr val="1B3442"/>
          </a:solidFill>
          <a:ln/>
        </p:spPr>
        <p:txBody>
          <a:bodyPr wrap="square" lIns="112121" tIns="86721" rIns="52146" bIns="61321" rtlCol="0" anchor="t">
            <a:normAutofit/>
          </a:bodyPr>
          <a:lstStyle/>
          <a:p>
            <a:pPr marL="0" indent="0" algn="l">
              <a:lnSpc>
                <a:spcPts val="1820"/>
              </a:lnSpc>
              <a:buNone/>
            </a:pPr>
            <a:r>
              <a:rPr lang="en-US" sz="1300" dirty="0">
                <a:solidFill>
                  <a:srgbClr val="EEF3F5"/>
                </a:solidFill>
                <a:latin typeface="IBM Plex Sans" pitchFamily="34" charset="0"/>
                <a:ea typeface="IBM Plex Sans" pitchFamily="34" charset="-122"/>
                <a:cs typeface="IBM Plex Sans" pitchFamily="34" charset="-120"/>
              </a:rPr>
              <a:t>Outbox note, if it matters</a:t>
            </a:r>
            <a:endParaRPr lang="en-US" sz="1300" dirty="0"/>
          </a:p>
        </p:txBody>
      </p:sp>
      <p:pic>
        <p:nvPicPr>
          <p:cNvPr id="33" name="Image 4" descr="arrow-right"/>
          <p:cNvPicPr>
            <a:picLocks noChangeAspect="1"/>
          </p:cNvPicPr>
          <p:nvPr/>
        </p:nvPicPr>
        <p:blipFill>
          <a:blip r:embed="rId4"/>
          <a:srcRect/>
          <a:stretch/>
        </p:blipFill>
        <p:spPr>
          <a:xfrm>
            <a:off x="8283575" y="3664942"/>
            <a:ext cx="304800" cy="177800"/>
          </a:xfrm>
          <a:prstGeom prst="rect">
            <a:avLst/>
          </a:prstGeom>
        </p:spPr>
      </p:pic>
      <p:sp>
        <p:nvSpPr>
          <p:cNvPr id="34" name="Shape 27"/>
          <p:cNvSpPr/>
          <p:nvPr/>
        </p:nvSpPr>
        <p:spPr>
          <a:xfrm>
            <a:off x="8693150" y="3218557"/>
            <a:ext cx="2682875" cy="1070570"/>
          </a:xfrm>
          <a:prstGeom prst="roundRect">
            <a:avLst>
              <a:gd name="adj" fmla="val 6821"/>
            </a:avLst>
          </a:prstGeom>
          <a:solidFill>
            <a:srgbClr val="E1EFF2"/>
          </a:solidFill>
          <a:ln w="6350">
            <a:solidFill>
              <a:srgbClr val="9CCBD5"/>
            </a:solidFill>
            <a:prstDash val="solid"/>
          </a:ln>
        </p:spPr>
      </p:sp>
      <p:sp>
        <p:nvSpPr>
          <p:cNvPr id="35" name="Text 28"/>
          <p:cNvSpPr/>
          <p:nvPr/>
        </p:nvSpPr>
        <p:spPr>
          <a:xfrm>
            <a:off x="8874125" y="3399532"/>
            <a:ext cx="2390553"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D6A7E"/>
                </a:solidFill>
                <a:latin typeface="JetBrains Mono" pitchFamily="49" charset="0"/>
                <a:ea typeface="JetBrains Mono" pitchFamily="49" charset="-122"/>
                <a:cs typeface="JetBrains Mono" pitchFamily="49" charset="-120"/>
              </a:rPr>
              <a:t>7</a:t>
            </a:r>
            <a:endParaRPr lang="en-US" sz="1200" dirty="0"/>
          </a:p>
        </p:txBody>
      </p:sp>
      <p:sp>
        <p:nvSpPr>
          <p:cNvPr id="36" name="Text 29"/>
          <p:cNvSpPr/>
          <p:nvPr/>
        </p:nvSpPr>
        <p:spPr>
          <a:xfrm>
            <a:off x="8874125" y="3663652"/>
            <a:ext cx="2390553" cy="469900"/>
          </a:xfrm>
          <a:prstGeom prst="rect">
            <a:avLst/>
          </a:prstGeom>
          <a:noFill/>
          <a:ln/>
        </p:spPr>
        <p:txBody>
          <a:bodyPr wrap="square" lIns="0" tIns="0" rIns="0" bIns="0" rtlCol="0" anchor="t">
            <a:normAutofit/>
          </a:bodyPr>
          <a:lstStyle/>
          <a:p>
            <a:pPr marL="0" indent="0" algn="l">
              <a:lnSpc>
                <a:spcPts val="1750"/>
              </a:lnSpc>
              <a:buNone/>
            </a:pPr>
            <a:r>
              <a:rPr lang="en-US" sz="1400" b="1" dirty="0">
                <a:solidFill>
                  <a:srgbClr val="14212B"/>
                </a:solidFill>
                <a:latin typeface="IBM Plex Sans" pitchFamily="34" charset="0"/>
                <a:ea typeface="IBM Plex Sans" pitchFamily="34" charset="-122"/>
                <a:cs typeface="IBM Plex Sans" pitchFamily="34" charset="-120"/>
              </a:rPr>
              <a:t>Commit, then tick off the offset</a:t>
            </a:r>
            <a:endParaRPr lang="en-US" sz="1400" dirty="0"/>
          </a:p>
        </p:txBody>
      </p:sp>
      <p:sp>
        <p:nvSpPr>
          <p:cNvPr id="37" name="Text 30"/>
          <p:cNvSpPr/>
          <p:nvPr/>
        </p:nvSpPr>
        <p:spPr>
          <a:xfrm>
            <a:off x="812800" y="4458692"/>
            <a:ext cx="3454400" cy="459680"/>
          </a:xfrm>
          <a:prstGeom prst="roundRect">
            <a:avLst>
              <a:gd name="adj" fmla="val 11051"/>
            </a:avLst>
          </a:prstGeom>
          <a:solidFill>
            <a:srgbClr val="F6E9DF"/>
          </a:solidFill>
          <a:ln/>
        </p:spPr>
        <p:txBody>
          <a:bodyPr wrap="square" lIns="137521" tIns="99421" rIns="43033" bIns="74021"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Bad record:</a:t>
            </a:r>
            <a:r>
              <a:rPr lang="en-US" sz="1300" dirty="0">
                <a:solidFill>
                  <a:srgbClr val="14212B"/>
                </a:solidFill>
                <a:latin typeface="IBM Plex Sans" pitchFamily="34" charset="0"/>
                <a:ea typeface="IBM Plex Sans" pitchFamily="34" charset="-122"/>
                <a:cs typeface="IBM Plex Sans" pitchFamily="34" charset="-120"/>
              </a:rPr>
              <a:t> failure tray, carry on</a:t>
            </a:r>
            <a:endParaRPr lang="en-US" sz="1300" dirty="0"/>
          </a:p>
        </p:txBody>
      </p:sp>
      <p:sp>
        <p:nvSpPr>
          <p:cNvPr id="38" name="Text 31"/>
          <p:cNvSpPr/>
          <p:nvPr/>
        </p:nvSpPr>
        <p:spPr>
          <a:xfrm>
            <a:off x="4368800" y="4458692"/>
            <a:ext cx="3454400" cy="459680"/>
          </a:xfrm>
          <a:prstGeom prst="roundRect">
            <a:avLst>
              <a:gd name="adj" fmla="val 11051"/>
            </a:avLst>
          </a:prstGeom>
          <a:solidFill>
            <a:srgbClr val="F6E9DF"/>
          </a:solidFill>
          <a:ln/>
        </p:spPr>
        <p:txBody>
          <a:bodyPr wrap="square" lIns="137521" tIns="99421" rIns="43033" bIns="74021"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Temporary blip:</a:t>
            </a:r>
            <a:r>
              <a:rPr lang="en-US" sz="1300" dirty="0">
                <a:solidFill>
                  <a:srgbClr val="14212B"/>
                </a:solidFill>
                <a:latin typeface="IBM Plex Sans" pitchFamily="34" charset="0"/>
                <a:ea typeface="IBM Plex Sans" pitchFamily="34" charset="-122"/>
                <a:cs typeface="IBM Plex Sans" pitchFamily="34" charset="-120"/>
              </a:rPr>
              <a:t> retry 1s, 2s, 4s, then tray</a:t>
            </a:r>
            <a:endParaRPr lang="en-US" sz="1300" dirty="0"/>
          </a:p>
        </p:txBody>
      </p:sp>
      <p:sp>
        <p:nvSpPr>
          <p:cNvPr id="39" name="Text 32"/>
          <p:cNvSpPr/>
          <p:nvPr/>
        </p:nvSpPr>
        <p:spPr>
          <a:xfrm>
            <a:off x="7924800" y="4458692"/>
            <a:ext cx="3454400" cy="459680"/>
          </a:xfrm>
          <a:prstGeom prst="roundRect">
            <a:avLst>
              <a:gd name="adj" fmla="val 11051"/>
            </a:avLst>
          </a:prstGeom>
          <a:solidFill>
            <a:srgbClr val="F6E9DF"/>
          </a:solidFill>
          <a:ln/>
        </p:spPr>
        <p:txBody>
          <a:bodyPr wrap="square" lIns="137521" tIns="99421" rIns="43033" bIns="74021"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Database down:</a:t>
            </a:r>
            <a:r>
              <a:rPr lang="en-US" sz="1300" dirty="0">
                <a:solidFill>
                  <a:srgbClr val="14212B"/>
                </a:solidFill>
                <a:latin typeface="IBM Plex Sans" pitchFamily="34" charset="0"/>
                <a:ea typeface="IBM Plex Sans" pitchFamily="34" charset="-122"/>
                <a:cs typeface="IBM Plex Sans" pitchFamily="34" charset="-120"/>
              </a:rPr>
              <a:t> pause and wait</a:t>
            </a:r>
            <a:endParaRPr lang="en-US" sz="1300" dirty="0"/>
          </a:p>
        </p:txBody>
      </p:sp>
      <p:sp>
        <p:nvSpPr>
          <p:cNvPr id="40" name="Text 3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41" name="Text 3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1 · DUPLICATES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Three ways a duplicate arrives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6438900" cy="2130327"/>
        </p:xfrm>
        <a:graphic>
          <a:graphicData uri="http://schemas.openxmlformats.org/drawingml/2006/table">
            <a:tbl>
              <a:tblPr/>
              <a:tblGrid>
                <a:gridCol w="2318004">
                  <a:extLst>
                    <a:ext uri="{9D8B030D-6E8A-4147-A177-3AD203B41FA5}">
                      <a16:colId xmlns:a16="http://schemas.microsoft.com/office/drawing/2014/main" val="20000"/>
                    </a:ext>
                  </a:extLst>
                </a:gridCol>
                <a:gridCol w="1931670">
                  <a:extLst>
                    <a:ext uri="{9D8B030D-6E8A-4147-A177-3AD203B41FA5}">
                      <a16:colId xmlns:a16="http://schemas.microsoft.com/office/drawing/2014/main" val="20001"/>
                    </a:ext>
                  </a:extLst>
                </a:gridCol>
                <a:gridCol w="2189226">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Cause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Example</a:t>
                      </a:r>
                      <a:endParaRPr lang="en-US" sz="1300" dirty="0">
                        <a:latin typeface="IBM Plex Sans" charset="0"/>
                        <a:ea typeface="IBM Plex Sans" charset="0"/>
                        <a:cs typeface="IBM Plex Sans" charset="0"/>
                      </a:endParaRPr>
                    </a:p>
                  </a:txBody>
                  <a:tcPr marL="57785" marR="57785" marT="57785" marB="57785">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Caught by</a:t>
                      </a:r>
                      <a:endParaRPr lang="en-US" sz="1300" dirty="0">
                        <a:latin typeface="IBM Plex Sans" charset="0"/>
                        <a:ea typeface="IBM Plex Sans" charset="0"/>
                        <a:cs typeface="IBM Plex Sans" charset="0"/>
                      </a:endParaRPr>
                    </a:p>
                  </a:txBody>
                  <a:tcPr marL="57785" marR="57785" marT="57785" marB="57785">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extLst>
                  <a:ext uri="{0D108BD9-81ED-4DB2-BD59-A6C34878D82A}">
                    <a16:rowId xmlns:a16="http://schemas.microsoft.com/office/drawing/2014/main" val="10000"/>
                  </a:ext>
                </a:extLst>
              </a:tr>
              <a:tr h="590352">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Kafka redelivers after a crash</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Saved, then crashed before tick-off</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Offset already has a ledger line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1"/>
                  </a:ext>
                </a:extLst>
              </a:tr>
              <a:tr h="590352">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Producer retries with the same id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Network retry at source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eventId already processed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2"/>
                  </a:ext>
                </a:extLst>
              </a:tr>
              <a:tr h="590352">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Source re-sends with a new id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Re-extract of yesterday’s changes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Version guard on the account row</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7569200" y="1899841"/>
            <a:ext cx="3810000" cy="2270423"/>
          </a:xfrm>
          <a:prstGeom prst="roundRect">
            <a:avLst>
              <a:gd name="adj" fmla="val 3356"/>
            </a:avLst>
          </a:prstGeom>
          <a:solidFill>
            <a:srgbClr val="10202A"/>
          </a:solidFill>
          <a:ln/>
        </p:spPr>
      </p:sp>
      <p:sp>
        <p:nvSpPr>
          <p:cNvPr id="6" name="Text 3"/>
          <p:cNvSpPr/>
          <p:nvPr/>
        </p:nvSpPr>
        <p:spPr>
          <a:xfrm>
            <a:off x="7797800" y="2128441"/>
            <a:ext cx="345338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5CC0D3"/>
                </a:solidFill>
                <a:latin typeface="IBM Plex Sans" pitchFamily="34" charset="0"/>
                <a:ea typeface="IBM Plex Sans" pitchFamily="34" charset="-122"/>
                <a:cs typeface="IBM Plex Sans" pitchFamily="34" charset="-120"/>
              </a:rPr>
              <a:t>VERSION GUARD</a:t>
            </a:r>
            <a:endParaRPr lang="en-US" sz="1200" dirty="0"/>
          </a:p>
        </p:txBody>
      </p:sp>
      <p:sp>
        <p:nvSpPr>
          <p:cNvPr id="7" name="Text 4"/>
          <p:cNvSpPr/>
          <p:nvPr/>
        </p:nvSpPr>
        <p:spPr>
          <a:xfrm>
            <a:off x="7797800" y="2430661"/>
            <a:ext cx="34533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AC3"/>
                </a:solidFill>
                <a:latin typeface="JetBrains Mono" pitchFamily="49" charset="0"/>
                <a:ea typeface="JetBrains Mono" pitchFamily="49" charset="-122"/>
                <a:cs typeface="JetBrains Mono" pitchFamily="49" charset="-120"/>
              </a:rPr>
              <a:t>Stored: IE123 €1,000 v7</a:t>
            </a:r>
            <a:endParaRPr lang="en-US" sz="1300" dirty="0"/>
          </a:p>
        </p:txBody>
      </p:sp>
      <p:sp>
        <p:nvSpPr>
          <p:cNvPr id="8" name="Text 5"/>
          <p:cNvSpPr/>
          <p:nvPr/>
        </p:nvSpPr>
        <p:spPr>
          <a:xfrm>
            <a:off x="7797800" y="2750641"/>
            <a:ext cx="34533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v8 €950 </a:t>
            </a:r>
            <a:r>
              <a:rPr lang="en-US" sz="1300" dirty="0">
                <a:solidFill>
                  <a:srgbClr val="5CC0D3"/>
                </a:solidFill>
                <a:latin typeface="JetBrains Mono" pitchFamily="49" charset="0"/>
                <a:ea typeface="JetBrains Mono" pitchFamily="49" charset="-122"/>
                <a:cs typeface="JetBrains Mono" pitchFamily="49" charset="-120"/>
              </a:rPr>
              <a:t>→ apply</a:t>
            </a:r>
            <a:endParaRPr lang="en-US" sz="1300" dirty="0"/>
          </a:p>
        </p:txBody>
      </p:sp>
      <p:sp>
        <p:nvSpPr>
          <p:cNvPr id="9" name="Text 6"/>
          <p:cNvSpPr/>
          <p:nvPr/>
        </p:nvSpPr>
        <p:spPr>
          <a:xfrm>
            <a:off x="7797800" y="3070622"/>
            <a:ext cx="34533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v7 same </a:t>
            </a:r>
            <a:r>
              <a:rPr lang="en-US" sz="1300" dirty="0">
                <a:solidFill>
                  <a:srgbClr val="A9BAC3"/>
                </a:solidFill>
                <a:latin typeface="JetBrains Mono" pitchFamily="49" charset="0"/>
                <a:ea typeface="JetBrains Mono" pitchFamily="49" charset="-122"/>
                <a:cs typeface="JetBrains Mono" pitchFamily="49" charset="-120"/>
              </a:rPr>
              <a:t>→ DUPLICATE</a:t>
            </a:r>
            <a:endParaRPr lang="en-US" sz="1300" dirty="0"/>
          </a:p>
        </p:txBody>
      </p:sp>
      <p:sp>
        <p:nvSpPr>
          <p:cNvPr id="10" name="Text 7"/>
          <p:cNvSpPr/>
          <p:nvPr/>
        </p:nvSpPr>
        <p:spPr>
          <a:xfrm>
            <a:off x="7797800" y="3390602"/>
            <a:ext cx="34533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v7 €1,100 </a:t>
            </a:r>
            <a:r>
              <a:rPr lang="en-US" sz="1300" dirty="0">
                <a:solidFill>
                  <a:srgbClr val="E39A5C"/>
                </a:solidFill>
                <a:latin typeface="JetBrains Mono" pitchFamily="49" charset="0"/>
                <a:ea typeface="JetBrains Mono" pitchFamily="49" charset="-122"/>
                <a:cs typeface="JetBrains Mono" pitchFamily="49" charset="-120"/>
              </a:rPr>
              <a:t>→ CONFLICT</a:t>
            </a:r>
            <a:endParaRPr lang="en-US" sz="1300" dirty="0"/>
          </a:p>
        </p:txBody>
      </p:sp>
      <p:sp>
        <p:nvSpPr>
          <p:cNvPr id="11" name="Text 8"/>
          <p:cNvSpPr/>
          <p:nvPr/>
        </p:nvSpPr>
        <p:spPr>
          <a:xfrm>
            <a:off x="7797800" y="3710583"/>
            <a:ext cx="345338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v6 €1,100 </a:t>
            </a:r>
            <a:r>
              <a:rPr lang="en-US" sz="1300" dirty="0">
                <a:solidFill>
                  <a:srgbClr val="A9BAC3"/>
                </a:solidFill>
                <a:latin typeface="JetBrains Mono" pitchFamily="49" charset="0"/>
                <a:ea typeface="JetBrains Mono" pitchFamily="49" charset="-122"/>
                <a:cs typeface="JetBrains Mono" pitchFamily="49" charset="-120"/>
              </a:rPr>
              <a:t>→ STALE</a:t>
            </a:r>
            <a:endParaRPr lang="en-US" sz="1300" dirty="0"/>
          </a:p>
        </p:txBody>
      </p:sp>
      <p:sp>
        <p:nvSpPr>
          <p:cNvPr id="12" name="Text 9"/>
          <p:cNvSpPr/>
          <p:nvPr/>
        </p:nvSpPr>
        <p:spPr>
          <a:xfrm>
            <a:off x="812800" y="4475063"/>
            <a:ext cx="9156700"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2B"/>
                </a:solidFill>
                <a:latin typeface="IBM Plex Sans" pitchFamily="34" charset="0"/>
                <a:ea typeface="IBM Plex Sans" pitchFamily="34" charset="-122"/>
                <a:cs typeface="IBM Plex Sans" pitchFamily="34" charset="-120"/>
              </a:rPr>
              <a:t>Only apply if newer.</a:t>
            </a:r>
            <a:r>
              <a:rPr lang="en-US" sz="1600" dirty="0">
                <a:solidFill>
                  <a:srgbClr val="14212B"/>
                </a:solidFill>
                <a:latin typeface="IBM Plex Sans" pitchFamily="34" charset="0"/>
                <a:ea typeface="IBM Plex Sans" pitchFamily="34" charset="-122"/>
                <a:cs typeface="IBM Plex Sans" pitchFamily="34" charset="-120"/>
              </a:rPr>
              <a:t> </a:t>
            </a:r>
            <a:r>
              <a:rPr lang="en-US" sz="1600" dirty="0">
                <a:solidFill>
                  <a:srgbClr val="4B5B67"/>
                </a:solidFill>
                <a:latin typeface="IBM Plex Sans" pitchFamily="34" charset="0"/>
                <a:ea typeface="IBM Plex Sans" pitchFamily="34" charset="-122"/>
                <a:cs typeface="IBM Plex Sans" pitchFamily="34" charset="-120"/>
              </a:rPr>
              <a:t>That one rule makes duplicates harmless, survives out-of-order delivery, and keeps working after the ledger is purged.</a:t>
            </a:r>
            <a:endParaRPr lang="en-US" sz="1600" dirty="0"/>
          </a:p>
        </p:txBody>
      </p:sp>
      <p:sp>
        <p:nvSpPr>
          <p:cNvPr id="13" name="Text 10"/>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14"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2 · EVIDENCE</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Every record ends with exactly one outcome</a:t>
            </a:r>
            <a:endParaRPr lang="en-US" sz="3200" dirty="0"/>
          </a:p>
        </p:txBody>
      </p:sp>
      <p:sp>
        <p:nvSpPr>
          <p:cNvPr id="4" name="Text 2"/>
          <p:cNvSpPr/>
          <p:nvPr/>
        </p:nvSpPr>
        <p:spPr>
          <a:xfrm>
            <a:off x="812800" y="1823641"/>
            <a:ext cx="10566400" cy="408880"/>
          </a:xfrm>
          <a:prstGeom prst="roundRect">
            <a:avLst>
              <a:gd name="adj" fmla="val 12424"/>
            </a:avLst>
          </a:prstGeom>
          <a:solidFill>
            <a:srgbClr val="E1EFF2"/>
          </a:solidFill>
          <a:ln/>
        </p:spPr>
        <p:txBody>
          <a:bodyPr wrap="square" lIns="137521" tIns="74021" rIns="0" bIns="48621" rtlCol="0" anchor="t">
            <a:normAutofit/>
          </a:bodyPr>
          <a:lstStyle/>
          <a:p>
            <a:pPr marL="0" indent="0" algn="l">
              <a:lnSpc>
                <a:spcPts val="1820"/>
              </a:lnSpc>
              <a:buNone/>
            </a:pPr>
            <a:r>
              <a:rPr lang="en-US" sz="1300" dirty="0">
                <a:solidFill>
                  <a:srgbClr val="14212B"/>
                </a:solidFill>
                <a:latin typeface="JetBrains Mono" pitchFamily="49" charset="0"/>
                <a:ea typeface="JetBrains Mono" pitchFamily="49" charset="-122"/>
                <a:cs typeface="JetBrains Mono" pitchFamily="49" charset="-120"/>
              </a:rPr>
              <a:t>consumed = processed + duplicate + stale + superseded + filtered + failed</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473821"/>
          <a:ext cx="5118100" cy="2874168"/>
        </p:xfrm>
        <a:graphic>
          <a:graphicData uri="http://schemas.openxmlformats.org/drawingml/2006/table">
            <a:tbl>
              <a:tblPr/>
              <a:tblGrid>
                <a:gridCol w="1944878">
                  <a:extLst>
                    <a:ext uri="{9D8B030D-6E8A-4147-A177-3AD203B41FA5}">
                      <a16:colId xmlns:a16="http://schemas.microsoft.com/office/drawing/2014/main" val="20000"/>
                    </a:ext>
                  </a:extLst>
                </a:gridCol>
                <a:gridCol w="3173222">
                  <a:extLst>
                    <a:ext uri="{9D8B030D-6E8A-4147-A177-3AD203B41FA5}">
                      <a16:colId xmlns:a16="http://schemas.microsoft.com/office/drawing/2014/main" val="20001"/>
                    </a:ext>
                  </a:extLst>
                </a:gridCol>
              </a:tblGrid>
              <a:tr h="359271">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Outcome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tc>
                  <a:txBody>
                    <a:bodyPr/>
                    <a:lstStyle/>
                    <a:p>
                      <a:pPr marL="0" indent="0">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Meaning</a:t>
                      </a:r>
                      <a:endParaRPr lang="en-US" sz="1300" dirty="0">
                        <a:latin typeface="IBM Plex Sans" charset="0"/>
                        <a:ea typeface="IBM Plex Sans" charset="0"/>
                        <a:cs typeface="IBM Plex Sans" charset="0"/>
                      </a:endParaRPr>
                    </a:p>
                  </a:txBody>
                  <a:tcPr marL="57785" marR="57785" marT="57785" marB="57785">
                    <a:lnL w="12700" cap="flat" cmpd="sng" algn="ctr">
                      <a:solidFill>
                        <a:srgbClr val="B4B5B6"/>
                      </a:solidFill>
                      <a:prstDash val="solid"/>
                      <a:round/>
                      <a:headEnd type="none" w="med" len="med"/>
                      <a:tailEnd type="none" w="med" len="med"/>
                    </a:lnL>
                    <a:lnR w="12700" cap="flat" cmpd="sng" algn="ctr">
                      <a:solidFill>
                        <a:srgbClr val="B4B5B6"/>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B4B5B6"/>
                      </a:solidFill>
                      <a:prstDash val="solid"/>
                      <a:round/>
                      <a:headEnd type="none" w="med" len="med"/>
                      <a:tailEnd type="none" w="med" len="med"/>
                    </a:lnB>
                    <a:solidFill>
                      <a:srgbClr val="E1E3E4"/>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PROCESSED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Applied to IOC</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B4B5B6"/>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DUPLICATE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Already applied before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STALE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Older than what we hold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SUPERSEDED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Newer version in the same batch</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FILTERED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Valid, but not needed by IOC</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FAILED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Waiting in the failure tray</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REPLAYED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tc>
                  <a:txBody>
                    <a:bodyPr/>
                    <a:lstStyle/>
                    <a:p>
                      <a:pPr marL="0" indent="0">
                        <a:lnSpc>
                          <a:spcPts val="1820"/>
                        </a:lnSpc>
                        <a:buNone/>
                      </a:pPr>
                      <a:r>
                        <a:rPr lang="en-US" sz="1300" dirty="0">
                          <a:solidFill>
                            <a:srgbClr val="14212B"/>
                          </a:solidFill>
                          <a:latin typeface="IBM Plex Sans" pitchFamily="34" charset="0"/>
                          <a:ea typeface="IBM Plex Sans" pitchFamily="34" charset="-122"/>
                          <a:cs typeface="IBM Plex Sans" pitchFamily="34" charset="-120"/>
                        </a:rPr>
                        <a:t>Failed earlier, handled later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2C4C4"/>
                      </a:solidFill>
                      <a:prstDash val="solid"/>
                      <a:round/>
                      <a:headEnd type="none" w="med" len="med"/>
                      <a:tailEnd type="none" w="med" len="med"/>
                    </a:lnL>
                    <a:lnR w="12700" cap="flat" cmpd="sng" algn="ctr">
                      <a:solidFill>
                        <a:srgbClr val="C2C4C4"/>
                      </a:solidFill>
                      <a:prstDash val="solid"/>
                      <a:round/>
                      <a:headEnd type="none" w="med" len="med"/>
                      <a:tailEnd type="none" w="med" len="med"/>
                    </a:lnR>
                    <a:lnT w="12700" cap="flat" cmpd="sng" algn="ctr">
                      <a:solidFill>
                        <a:srgbClr val="C2C4C4"/>
                      </a:solidFill>
                      <a:prstDash val="solid"/>
                      <a:round/>
                      <a:headEnd type="none" w="med" len="med"/>
                      <a:tailEnd type="none" w="med" len="med"/>
                    </a:lnT>
                    <a:lnB w="12700" cap="flat" cmpd="sng" algn="ctr">
                      <a:solidFill>
                        <a:srgbClr val="C2C4C4"/>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6" name="Shape 3"/>
          <p:cNvSpPr/>
          <p:nvPr/>
        </p:nvSpPr>
        <p:spPr>
          <a:xfrm>
            <a:off x="6251575" y="2464296"/>
            <a:ext cx="5124450" cy="768251"/>
          </a:xfrm>
          <a:prstGeom prst="roundRect">
            <a:avLst>
              <a:gd name="adj" fmla="val 7852"/>
            </a:avLst>
          </a:prstGeom>
          <a:solidFill>
            <a:srgbClr val="FBFCFC"/>
          </a:solidFill>
          <a:ln w="6350">
            <a:solidFill>
              <a:srgbClr val="D3DBE0"/>
            </a:solidFill>
            <a:prstDash val="solid"/>
          </a:ln>
        </p:spPr>
      </p:sp>
      <p:sp>
        <p:nvSpPr>
          <p:cNvPr id="7" name="Text 4"/>
          <p:cNvSpPr/>
          <p:nvPr/>
        </p:nvSpPr>
        <p:spPr>
          <a:xfrm>
            <a:off x="6432550" y="2607171"/>
            <a:ext cx="490537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2B"/>
                </a:solidFill>
                <a:latin typeface="IBM Plex Sans" pitchFamily="34" charset="0"/>
                <a:ea typeface="IBM Plex Sans" pitchFamily="34" charset="-122"/>
                <a:cs typeface="IBM Plex Sans" pitchFamily="34" charset="-120"/>
              </a:rPr>
              <a:t>Per record</a:t>
            </a:r>
            <a:endParaRPr lang="en-US" sz="1400" dirty="0"/>
          </a:p>
        </p:txBody>
      </p:sp>
      <p:sp>
        <p:nvSpPr>
          <p:cNvPr id="8" name="Text 5"/>
          <p:cNvSpPr/>
          <p:nvPr/>
        </p:nvSpPr>
        <p:spPr>
          <a:xfrm>
            <a:off x="6432550" y="2858591"/>
            <a:ext cx="490537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Offset, eventId, SHA-256 of the bytes, trace id</a:t>
            </a:r>
            <a:endParaRPr lang="en-US" sz="1300" dirty="0"/>
          </a:p>
        </p:txBody>
      </p:sp>
      <p:sp>
        <p:nvSpPr>
          <p:cNvPr id="9" name="Shape 6"/>
          <p:cNvSpPr/>
          <p:nvPr/>
        </p:nvSpPr>
        <p:spPr>
          <a:xfrm>
            <a:off x="6251575" y="3340497"/>
            <a:ext cx="5124450" cy="768251"/>
          </a:xfrm>
          <a:prstGeom prst="roundRect">
            <a:avLst>
              <a:gd name="adj" fmla="val 7852"/>
            </a:avLst>
          </a:prstGeom>
          <a:solidFill>
            <a:srgbClr val="FBFCFC"/>
          </a:solidFill>
          <a:ln w="6350">
            <a:solidFill>
              <a:srgbClr val="D3DBE0"/>
            </a:solidFill>
            <a:prstDash val="solid"/>
          </a:ln>
        </p:spPr>
      </p:sp>
      <p:sp>
        <p:nvSpPr>
          <p:cNvPr id="10" name="Text 7"/>
          <p:cNvSpPr/>
          <p:nvPr/>
        </p:nvSpPr>
        <p:spPr>
          <a:xfrm>
            <a:off x="6432550" y="3483372"/>
            <a:ext cx="490537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2B"/>
                </a:solidFill>
                <a:latin typeface="IBM Plex Sans" pitchFamily="34" charset="0"/>
                <a:ea typeface="IBM Plex Sans" pitchFamily="34" charset="-122"/>
                <a:cs typeface="IBM Plex Sans" pitchFamily="34" charset="-120"/>
              </a:rPr>
              <a:t>Per partition, during the day</a:t>
            </a:r>
            <a:endParaRPr lang="en-US" sz="1400" dirty="0"/>
          </a:p>
        </p:txBody>
      </p:sp>
      <p:sp>
        <p:nvSpPr>
          <p:cNvPr id="11" name="Text 8"/>
          <p:cNvSpPr/>
          <p:nvPr/>
        </p:nvSpPr>
        <p:spPr>
          <a:xfrm>
            <a:off x="6432550" y="3734792"/>
            <a:ext cx="490537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Offsets run with no holes; gaps checked against Kafka</a:t>
            </a:r>
            <a:endParaRPr lang="en-US" sz="1300" dirty="0"/>
          </a:p>
        </p:txBody>
      </p:sp>
      <p:sp>
        <p:nvSpPr>
          <p:cNvPr id="12" name="Shape 9"/>
          <p:cNvSpPr/>
          <p:nvPr/>
        </p:nvSpPr>
        <p:spPr>
          <a:xfrm>
            <a:off x="6251575" y="4216698"/>
            <a:ext cx="5124450" cy="768251"/>
          </a:xfrm>
          <a:prstGeom prst="roundRect">
            <a:avLst>
              <a:gd name="adj" fmla="val 7852"/>
            </a:avLst>
          </a:prstGeom>
          <a:solidFill>
            <a:srgbClr val="FBFCFC"/>
          </a:solidFill>
          <a:ln w="6350">
            <a:solidFill>
              <a:srgbClr val="D3DBE0"/>
            </a:solidFill>
            <a:prstDash val="solid"/>
          </a:ln>
        </p:spPr>
      </p:sp>
      <p:sp>
        <p:nvSpPr>
          <p:cNvPr id="13" name="Text 10"/>
          <p:cNvSpPr/>
          <p:nvPr/>
        </p:nvSpPr>
        <p:spPr>
          <a:xfrm>
            <a:off x="6432550" y="4359573"/>
            <a:ext cx="490537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2B"/>
                </a:solidFill>
                <a:latin typeface="IBM Plex Sans" pitchFamily="34" charset="0"/>
                <a:ea typeface="IBM Plex Sans" pitchFamily="34" charset="-122"/>
                <a:cs typeface="IBM Plex Sans" pitchFamily="34" charset="-120"/>
              </a:rPr>
              <a:t>Per business day</a:t>
            </a:r>
            <a:endParaRPr lang="en-US" sz="1400" dirty="0"/>
          </a:p>
        </p:txBody>
      </p:sp>
      <p:sp>
        <p:nvSpPr>
          <p:cNvPr id="14" name="Text 11"/>
          <p:cNvSpPr/>
          <p:nvPr/>
        </p:nvSpPr>
        <p:spPr>
          <a:xfrm>
            <a:off x="6432550" y="4610993"/>
            <a:ext cx="4905375"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Source team’s total vs IOC’s count</a:t>
            </a:r>
            <a:endParaRPr lang="en-US" sz="1300" dirty="0"/>
          </a:p>
        </p:txBody>
      </p:sp>
      <p:sp>
        <p:nvSpPr>
          <p:cNvPr id="15" name="Text 12"/>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16" name="Text 13"/>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3 · FAILURES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Three kinds of failure, three responses</a:t>
            </a:r>
            <a:endParaRPr lang="en-US" sz="3200" dirty="0"/>
          </a:p>
        </p:txBody>
      </p:sp>
      <p:sp>
        <p:nvSpPr>
          <p:cNvPr id="4" name="Shape 2"/>
          <p:cNvSpPr/>
          <p:nvPr/>
        </p:nvSpPr>
        <p:spPr>
          <a:xfrm>
            <a:off x="815975" y="1826816"/>
            <a:ext cx="3414117" cy="2401193"/>
          </a:xfrm>
          <a:prstGeom prst="roundRect">
            <a:avLst>
              <a:gd name="adj" fmla="val 2512"/>
            </a:avLst>
          </a:prstGeom>
          <a:solidFill>
            <a:srgbClr val="FBFCFC"/>
          </a:solidFill>
          <a:ln w="6350">
            <a:solidFill>
              <a:srgbClr val="D3DBE0"/>
            </a:solidFill>
            <a:prstDash val="solid"/>
          </a:ln>
        </p:spPr>
      </p:sp>
      <p:sp>
        <p:nvSpPr>
          <p:cNvPr id="5" name="Text 3"/>
          <p:cNvSpPr/>
          <p:nvPr/>
        </p:nvSpPr>
        <p:spPr>
          <a:xfrm>
            <a:off x="996950" y="2007791"/>
            <a:ext cx="31437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61A"/>
                </a:solidFill>
                <a:latin typeface="IBM Plex Sans" pitchFamily="34" charset="0"/>
                <a:ea typeface="IBM Plex Sans" pitchFamily="34" charset="-122"/>
                <a:cs typeface="IBM Plex Sans" pitchFamily="34" charset="-120"/>
              </a:rPr>
              <a:t>THE LETTER IS BAD</a:t>
            </a:r>
            <a:endParaRPr lang="en-US" sz="1200" dirty="0"/>
          </a:p>
        </p:txBody>
      </p:sp>
      <p:sp>
        <p:nvSpPr>
          <p:cNvPr id="6" name="Text 4"/>
          <p:cNvSpPr/>
          <p:nvPr/>
        </p:nvSpPr>
        <p:spPr>
          <a:xfrm>
            <a:off x="996950" y="2297311"/>
            <a:ext cx="3143732"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2B"/>
                </a:solidFill>
                <a:latin typeface="IBM Plex Sans" pitchFamily="34" charset="0"/>
                <a:ea typeface="IBM Plex Sans" pitchFamily="34" charset="-122"/>
                <a:cs typeface="IBM Plex Sans" pitchFamily="34" charset="-120"/>
              </a:rPr>
              <a:t>Corrupt bytes, contract breach, conflict</a:t>
            </a:r>
            <a:endParaRPr lang="en-US" sz="1700" dirty="0"/>
          </a:p>
        </p:txBody>
      </p:sp>
      <p:sp>
        <p:nvSpPr>
          <p:cNvPr id="7" name="Text 5"/>
          <p:cNvSpPr/>
          <p:nvPr/>
        </p:nvSpPr>
        <p:spPr>
          <a:xfrm>
            <a:off x="1082294" y="2891631"/>
            <a:ext cx="3050768" cy="949722"/>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Failure tray, raw bytes kept</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The next record carries on</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Waits for a person: a retry would fail the same way</a:t>
            </a:r>
            <a:endParaRPr lang="en-US" sz="1300" dirty="0"/>
          </a:p>
        </p:txBody>
      </p:sp>
      <p:sp>
        <p:nvSpPr>
          <p:cNvPr id="8" name="Shape 6"/>
          <p:cNvSpPr/>
          <p:nvPr/>
        </p:nvSpPr>
        <p:spPr>
          <a:xfrm>
            <a:off x="4388842" y="1826816"/>
            <a:ext cx="3414216" cy="2401193"/>
          </a:xfrm>
          <a:prstGeom prst="roundRect">
            <a:avLst>
              <a:gd name="adj" fmla="val 2512"/>
            </a:avLst>
          </a:prstGeom>
          <a:solidFill>
            <a:srgbClr val="FBFCFC"/>
          </a:solidFill>
          <a:ln w="6350">
            <a:solidFill>
              <a:srgbClr val="D3DBE0"/>
            </a:solidFill>
            <a:prstDash val="solid"/>
          </a:ln>
        </p:spPr>
      </p:sp>
      <p:sp>
        <p:nvSpPr>
          <p:cNvPr id="9" name="Text 7"/>
          <p:cNvSpPr/>
          <p:nvPr/>
        </p:nvSpPr>
        <p:spPr>
          <a:xfrm>
            <a:off x="4569817" y="2007791"/>
            <a:ext cx="314383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D6A7E"/>
                </a:solidFill>
                <a:latin typeface="IBM Plex Sans" pitchFamily="34" charset="0"/>
                <a:ea typeface="IBM Plex Sans" pitchFamily="34" charset="-122"/>
                <a:cs typeface="IBM Plex Sans" pitchFamily="34" charset="-120"/>
              </a:rPr>
              <a:t>A TEMPORARY BLIP</a:t>
            </a:r>
            <a:endParaRPr lang="en-US" sz="1200" dirty="0"/>
          </a:p>
        </p:txBody>
      </p:sp>
      <p:sp>
        <p:nvSpPr>
          <p:cNvPr id="10" name="Text 8"/>
          <p:cNvSpPr/>
          <p:nvPr/>
        </p:nvSpPr>
        <p:spPr>
          <a:xfrm>
            <a:off x="4569817" y="2297311"/>
            <a:ext cx="3143834"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2B"/>
                </a:solidFill>
                <a:latin typeface="IBM Plex Sans" pitchFamily="34" charset="0"/>
                <a:ea typeface="IBM Plex Sans" pitchFamily="34" charset="-122"/>
                <a:cs typeface="IBM Plex Sans" pitchFamily="34" charset="-120"/>
              </a:rPr>
              <a:t>Deadlock, throttling, a slow query</a:t>
            </a:r>
            <a:endParaRPr lang="en-US" sz="1700" dirty="0"/>
          </a:p>
        </p:txBody>
      </p:sp>
      <p:sp>
        <p:nvSpPr>
          <p:cNvPr id="11" name="Text 9"/>
          <p:cNvSpPr/>
          <p:nvPr/>
        </p:nvSpPr>
        <p:spPr>
          <a:xfrm>
            <a:off x="4655161" y="2891631"/>
            <a:ext cx="3050870" cy="949722"/>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Retry in memory: 1s, 2s, 4s</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Still failing: tray, retried later</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Many in a minute: treated as system down</a:t>
            </a:r>
            <a:endParaRPr lang="en-US" sz="1300" dirty="0"/>
          </a:p>
        </p:txBody>
      </p:sp>
      <p:sp>
        <p:nvSpPr>
          <p:cNvPr id="12" name="Shape 10"/>
          <p:cNvSpPr/>
          <p:nvPr/>
        </p:nvSpPr>
        <p:spPr>
          <a:xfrm>
            <a:off x="7961809" y="1826816"/>
            <a:ext cx="3414216" cy="2401193"/>
          </a:xfrm>
          <a:prstGeom prst="roundRect">
            <a:avLst>
              <a:gd name="adj" fmla="val 2512"/>
            </a:avLst>
          </a:prstGeom>
          <a:solidFill>
            <a:srgbClr val="FBFCFC"/>
          </a:solidFill>
          <a:ln w="6350">
            <a:solidFill>
              <a:srgbClr val="D3DBE0"/>
            </a:solidFill>
            <a:prstDash val="solid"/>
          </a:ln>
        </p:spPr>
      </p:sp>
      <p:sp>
        <p:nvSpPr>
          <p:cNvPr id="13" name="Text 11"/>
          <p:cNvSpPr/>
          <p:nvPr/>
        </p:nvSpPr>
        <p:spPr>
          <a:xfrm>
            <a:off x="8142784" y="2007791"/>
            <a:ext cx="314383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14212B"/>
                </a:solidFill>
                <a:latin typeface="IBM Plex Sans" pitchFamily="34" charset="0"/>
                <a:ea typeface="IBM Plex Sans" pitchFamily="34" charset="-122"/>
                <a:cs typeface="IBM Plex Sans" pitchFamily="34" charset="-120"/>
              </a:rPr>
              <a:t>THE SYSTEM IS DOWN</a:t>
            </a:r>
            <a:endParaRPr lang="en-US" sz="1200" dirty="0"/>
          </a:p>
        </p:txBody>
      </p:sp>
      <p:sp>
        <p:nvSpPr>
          <p:cNvPr id="14" name="Text 12"/>
          <p:cNvSpPr/>
          <p:nvPr/>
        </p:nvSpPr>
        <p:spPr>
          <a:xfrm>
            <a:off x="8142784" y="2297311"/>
            <a:ext cx="3143834" cy="54352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4212B"/>
                </a:solidFill>
                <a:latin typeface="IBM Plex Sans" pitchFamily="34" charset="0"/>
                <a:ea typeface="IBM Plex Sans" pitchFamily="34" charset="-122"/>
                <a:cs typeface="IBM Plex Sans" pitchFamily="34" charset="-120"/>
              </a:rPr>
              <a:t>Azure SQL or Schema Registry unreachable</a:t>
            </a:r>
            <a:endParaRPr lang="en-US" sz="1700" dirty="0"/>
          </a:p>
        </p:txBody>
      </p:sp>
      <p:sp>
        <p:nvSpPr>
          <p:cNvPr id="15" name="Text 13"/>
          <p:cNvSpPr/>
          <p:nvPr/>
        </p:nvSpPr>
        <p:spPr>
          <a:xfrm>
            <a:off x="8228128" y="2891631"/>
            <a:ext cx="3050870" cy="1180802"/>
          </a:xfrm>
          <a:prstGeom prst="rect">
            <a:avLst/>
          </a:prstGeom>
          <a:noFill/>
          <a:ln/>
        </p:spPr>
        <p:txBody>
          <a:bodyPr wrap="square" lIns="0" tIns="0" rIns="0" bIns="0" rtlCol="0" anchor="t">
            <a:normAutofit/>
          </a:bodyPr>
          <a:lstStyle/>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Consumer pauses, keeps its partitions</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Nothing goes to the tray</a:t>
            </a:r>
            <a:endParaRPr lang="en-US" sz="1300" dirty="0"/>
          </a:p>
          <a:p>
            <a:pPr marL="168656" indent="-168656" algn="l">
              <a:lnSpc>
                <a:spcPts val="1820"/>
              </a:lnSpc>
              <a:buSzPct val="100000"/>
              <a:buChar char="•"/>
            </a:pPr>
            <a:r>
              <a:rPr lang="en-US" sz="1300" dirty="0">
                <a:solidFill>
                  <a:srgbClr val="4B5B67"/>
                </a:solidFill>
                <a:latin typeface="IBM Plex Sans" pitchFamily="34" charset="0"/>
                <a:ea typeface="IBM Plex Sans" pitchFamily="34" charset="-122"/>
                <a:cs typeface="IBM Plex Sans" pitchFamily="34" charset="-120"/>
              </a:rPr>
              <a:t>Kafka holds the backlog; resumes by itself</a:t>
            </a:r>
            <a:endParaRPr lang="en-US" sz="1300" dirty="0"/>
          </a:p>
        </p:txBody>
      </p:sp>
      <p:sp>
        <p:nvSpPr>
          <p:cNvPr id="16" name="Text 14"/>
          <p:cNvSpPr/>
          <p:nvPr/>
        </p:nvSpPr>
        <p:spPr>
          <a:xfrm>
            <a:off x="812800" y="4459784"/>
            <a:ext cx="10566400" cy="652760"/>
          </a:xfrm>
          <a:prstGeom prst="roundRect">
            <a:avLst>
              <a:gd name="adj" fmla="val 11674"/>
            </a:avLst>
          </a:prstGeom>
          <a:solidFill>
            <a:srgbClr val="10202A"/>
          </a:solidFill>
          <a:ln/>
        </p:spPr>
        <p:txBody>
          <a:bodyPr wrap="square" lIns="231682" tIns="155482" rIns="0" bIns="130082" rtlCol="0" anchor="t">
            <a:normAutofit/>
          </a:bodyPr>
          <a:lstStyle/>
          <a:p>
            <a:pPr marL="0" indent="0" algn="l">
              <a:lnSpc>
                <a:spcPts val="2340"/>
              </a:lnSpc>
              <a:buNone/>
            </a:pPr>
            <a:r>
              <a:rPr lang="en-US" sz="1800" b="1" dirty="0">
                <a:solidFill>
                  <a:srgbClr val="EEF3F5"/>
                </a:solidFill>
                <a:latin typeface="IBM Plex Sans" pitchFamily="34" charset="0"/>
                <a:ea typeface="IBM Plex Sans" pitchFamily="34" charset="-122"/>
                <a:cs typeface="IBM Plex Sans" pitchFamily="34" charset="-120"/>
              </a:rPr>
              <a:t>A bad letter goes to the tray. </a:t>
            </a:r>
            <a:r>
              <a:rPr lang="en-US" sz="1800" b="1" dirty="0">
                <a:solidFill>
                  <a:srgbClr val="5CC0D3"/>
                </a:solidFill>
                <a:latin typeface="IBM Plex Sans" pitchFamily="34" charset="0"/>
                <a:ea typeface="IBM Plex Sans" pitchFamily="34" charset="-122"/>
                <a:cs typeface="IBM Plex Sans" pitchFamily="34" charset="-120"/>
              </a:rPr>
              <a:t>A broken system makes the clerk wait.</a:t>
            </a:r>
            <a:endParaRPr lang="en-US" sz="1800" dirty="0"/>
          </a:p>
        </p:txBody>
      </p:sp>
      <p:sp>
        <p:nvSpPr>
          <p:cNvPr id="17" name="Text 1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18" name="Text 1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4 · REPLAY</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Automatic where it helps, controlled where it’s risky</a:t>
            </a:r>
            <a:endParaRPr lang="en-US" sz="3200" dirty="0"/>
          </a:p>
        </p:txBody>
      </p:sp>
      <p:sp>
        <p:nvSpPr>
          <p:cNvPr id="4" name="Text 2"/>
          <p:cNvSpPr/>
          <p:nvPr/>
        </p:nvSpPr>
        <p:spPr>
          <a:xfrm>
            <a:off x="812800" y="1823641"/>
            <a:ext cx="800100" cy="383480"/>
          </a:xfrm>
          <a:prstGeom prst="roundRect">
            <a:avLst>
              <a:gd name="adj" fmla="val 50000"/>
            </a:avLst>
          </a:prstGeom>
          <a:solidFill>
            <a:srgbClr val="F6E9DF"/>
          </a:solidFill>
          <a:ln/>
        </p:spPr>
        <p:txBody>
          <a:bodyPr wrap="none" lIns="0" tIns="0" rIns="0" bIns="0" rtlCol="0" anchor="ctr">
            <a:normAutofit/>
          </a:bodyPr>
          <a:lstStyle/>
          <a:p>
            <a:pPr marL="0" indent="0" algn="ctr">
              <a:lnSpc>
                <a:spcPts val="1820"/>
              </a:lnSpc>
              <a:buNone/>
            </a:pPr>
            <a:r>
              <a:rPr lang="en-US" sz="1300" b="1" dirty="0">
                <a:solidFill>
                  <a:srgbClr val="B4561A"/>
                </a:solidFill>
                <a:latin typeface="JetBrains Mono" pitchFamily="49" charset="0"/>
                <a:ea typeface="JetBrains Mono" pitchFamily="49" charset="-122"/>
                <a:cs typeface="JetBrains Mono" pitchFamily="49" charset="-120"/>
              </a:rPr>
              <a:t>Fails</a:t>
            </a:r>
            <a:endParaRPr lang="en-US" sz="1300" dirty="0"/>
          </a:p>
        </p:txBody>
      </p:sp>
      <p:pic>
        <p:nvPicPr>
          <p:cNvPr id="5" name="Image 0" descr="arrow-right"/>
          <p:cNvPicPr>
            <a:picLocks noChangeAspect="1"/>
          </p:cNvPicPr>
          <p:nvPr/>
        </p:nvPicPr>
        <p:blipFill>
          <a:blip r:embed="rId3"/>
          <a:srcRect/>
          <a:stretch/>
        </p:blipFill>
        <p:spPr>
          <a:xfrm>
            <a:off x="1689100" y="1951831"/>
            <a:ext cx="228600" cy="127000"/>
          </a:xfrm>
          <a:prstGeom prst="rect">
            <a:avLst/>
          </a:prstGeom>
        </p:spPr>
      </p:pic>
      <p:sp>
        <p:nvSpPr>
          <p:cNvPr id="6" name="Text 3"/>
          <p:cNvSpPr/>
          <p:nvPr/>
        </p:nvSpPr>
        <p:spPr>
          <a:xfrm>
            <a:off x="1993900" y="1823641"/>
            <a:ext cx="800100" cy="383480"/>
          </a:xfrm>
          <a:prstGeom prst="roundRect">
            <a:avLst>
              <a:gd name="adj" fmla="val 50000"/>
            </a:avLst>
          </a:prstGeom>
          <a:solidFill>
            <a:srgbClr val="E1EFF2"/>
          </a:solidFill>
          <a:ln/>
        </p:spPr>
        <p:txBody>
          <a:bodyPr wrap="none" lIns="0" tIns="0" rIns="0" bIns="0" rtlCol="0" anchor="ctr">
            <a:normAutofit/>
          </a:bodyPr>
          <a:lstStyle/>
          <a:p>
            <a:pPr marL="0" indent="0" algn="ctr">
              <a:lnSpc>
                <a:spcPts val="1820"/>
              </a:lnSpc>
              <a:buNone/>
            </a:pPr>
            <a:r>
              <a:rPr lang="en-US" sz="1300" dirty="0">
                <a:solidFill>
                  <a:srgbClr val="0D6A7E"/>
                </a:solidFill>
                <a:latin typeface="JetBrains Mono" pitchFamily="49" charset="0"/>
                <a:ea typeface="JetBrains Mono" pitchFamily="49" charset="-122"/>
                <a:cs typeface="JetBrains Mono" pitchFamily="49" charset="-120"/>
              </a:rPr>
              <a:t>1 min</a:t>
            </a:r>
            <a:endParaRPr lang="en-US" sz="1300" dirty="0"/>
          </a:p>
        </p:txBody>
      </p:sp>
      <p:pic>
        <p:nvPicPr>
          <p:cNvPr id="7" name="Image 1" descr="arrow-right"/>
          <p:cNvPicPr>
            <a:picLocks noChangeAspect="1"/>
          </p:cNvPicPr>
          <p:nvPr/>
        </p:nvPicPr>
        <p:blipFill>
          <a:blip r:embed="rId3"/>
          <a:srcRect/>
          <a:stretch/>
        </p:blipFill>
        <p:spPr>
          <a:xfrm>
            <a:off x="2870200" y="1951831"/>
            <a:ext cx="228600" cy="127000"/>
          </a:xfrm>
          <a:prstGeom prst="rect">
            <a:avLst/>
          </a:prstGeom>
        </p:spPr>
      </p:pic>
      <p:sp>
        <p:nvSpPr>
          <p:cNvPr id="8" name="Text 4"/>
          <p:cNvSpPr/>
          <p:nvPr/>
        </p:nvSpPr>
        <p:spPr>
          <a:xfrm>
            <a:off x="3175000" y="1823641"/>
            <a:ext cx="800100" cy="383480"/>
          </a:xfrm>
          <a:prstGeom prst="roundRect">
            <a:avLst>
              <a:gd name="adj" fmla="val 50000"/>
            </a:avLst>
          </a:prstGeom>
          <a:solidFill>
            <a:srgbClr val="E1EFF2"/>
          </a:solidFill>
          <a:ln/>
        </p:spPr>
        <p:txBody>
          <a:bodyPr wrap="none" lIns="0" tIns="0" rIns="0" bIns="0" rtlCol="0" anchor="ctr">
            <a:normAutofit/>
          </a:bodyPr>
          <a:lstStyle/>
          <a:p>
            <a:pPr marL="0" indent="0" algn="ctr">
              <a:lnSpc>
                <a:spcPts val="1820"/>
              </a:lnSpc>
              <a:buNone/>
            </a:pPr>
            <a:r>
              <a:rPr lang="en-US" sz="1300" dirty="0">
                <a:solidFill>
                  <a:srgbClr val="0D6A7E"/>
                </a:solidFill>
                <a:latin typeface="JetBrains Mono" pitchFamily="49" charset="0"/>
                <a:ea typeface="JetBrains Mono" pitchFamily="49" charset="-122"/>
                <a:cs typeface="JetBrains Mono" pitchFamily="49" charset="-120"/>
              </a:rPr>
              <a:t>5 min</a:t>
            </a:r>
            <a:endParaRPr lang="en-US" sz="1300" dirty="0"/>
          </a:p>
        </p:txBody>
      </p:sp>
      <p:pic>
        <p:nvPicPr>
          <p:cNvPr id="9" name="Image 2" descr="arrow-right"/>
          <p:cNvPicPr>
            <a:picLocks noChangeAspect="1"/>
          </p:cNvPicPr>
          <p:nvPr/>
        </p:nvPicPr>
        <p:blipFill>
          <a:blip r:embed="rId3"/>
          <a:srcRect/>
          <a:stretch/>
        </p:blipFill>
        <p:spPr>
          <a:xfrm>
            <a:off x="4051300" y="1951831"/>
            <a:ext cx="228600" cy="127000"/>
          </a:xfrm>
          <a:prstGeom prst="rect">
            <a:avLst/>
          </a:prstGeom>
        </p:spPr>
      </p:pic>
      <p:sp>
        <p:nvSpPr>
          <p:cNvPr id="10" name="Text 5"/>
          <p:cNvSpPr/>
          <p:nvPr/>
        </p:nvSpPr>
        <p:spPr>
          <a:xfrm>
            <a:off x="4356100" y="1823641"/>
            <a:ext cx="899220" cy="383480"/>
          </a:xfrm>
          <a:prstGeom prst="roundRect">
            <a:avLst>
              <a:gd name="adj" fmla="val 50000"/>
            </a:avLst>
          </a:prstGeom>
          <a:solidFill>
            <a:srgbClr val="E1EFF2"/>
          </a:solidFill>
          <a:ln/>
        </p:spPr>
        <p:txBody>
          <a:bodyPr wrap="none" lIns="0" tIns="0" rIns="0" bIns="0" rtlCol="0" anchor="ctr">
            <a:normAutofit/>
          </a:bodyPr>
          <a:lstStyle/>
          <a:p>
            <a:pPr marL="0" indent="0" algn="ctr">
              <a:lnSpc>
                <a:spcPts val="1820"/>
              </a:lnSpc>
              <a:buNone/>
            </a:pPr>
            <a:r>
              <a:rPr lang="en-US" sz="1300" dirty="0">
                <a:solidFill>
                  <a:srgbClr val="0D6A7E"/>
                </a:solidFill>
                <a:latin typeface="JetBrains Mono" pitchFamily="49" charset="0"/>
                <a:ea typeface="JetBrains Mono" pitchFamily="49" charset="-122"/>
                <a:cs typeface="JetBrains Mono" pitchFamily="49" charset="-120"/>
              </a:rPr>
              <a:t>15 min</a:t>
            </a:r>
            <a:endParaRPr lang="en-US" sz="1300" dirty="0"/>
          </a:p>
        </p:txBody>
      </p:sp>
      <p:pic>
        <p:nvPicPr>
          <p:cNvPr id="11" name="Image 3" descr="arrow-right"/>
          <p:cNvPicPr>
            <a:picLocks noChangeAspect="1"/>
          </p:cNvPicPr>
          <p:nvPr/>
        </p:nvPicPr>
        <p:blipFill>
          <a:blip r:embed="rId3"/>
          <a:srcRect/>
          <a:stretch/>
        </p:blipFill>
        <p:spPr>
          <a:xfrm>
            <a:off x="5331520" y="1951831"/>
            <a:ext cx="228600" cy="127000"/>
          </a:xfrm>
          <a:prstGeom prst="rect">
            <a:avLst/>
          </a:prstGeom>
        </p:spPr>
      </p:pic>
      <p:sp>
        <p:nvSpPr>
          <p:cNvPr id="12" name="Text 6"/>
          <p:cNvSpPr/>
          <p:nvPr/>
        </p:nvSpPr>
        <p:spPr>
          <a:xfrm>
            <a:off x="5636320" y="1823641"/>
            <a:ext cx="899220" cy="383480"/>
          </a:xfrm>
          <a:prstGeom prst="roundRect">
            <a:avLst>
              <a:gd name="adj" fmla="val 50000"/>
            </a:avLst>
          </a:prstGeom>
          <a:solidFill>
            <a:srgbClr val="E1EFF2"/>
          </a:solidFill>
          <a:ln/>
        </p:spPr>
        <p:txBody>
          <a:bodyPr wrap="none" lIns="0" tIns="0" rIns="0" bIns="0" rtlCol="0" anchor="ctr">
            <a:normAutofit/>
          </a:bodyPr>
          <a:lstStyle/>
          <a:p>
            <a:pPr marL="0" indent="0" algn="ctr">
              <a:lnSpc>
                <a:spcPts val="1820"/>
              </a:lnSpc>
              <a:buNone/>
            </a:pPr>
            <a:r>
              <a:rPr lang="en-US" sz="1300" dirty="0">
                <a:solidFill>
                  <a:srgbClr val="0D6A7E"/>
                </a:solidFill>
                <a:latin typeface="JetBrains Mono" pitchFamily="49" charset="0"/>
                <a:ea typeface="JetBrains Mono" pitchFamily="49" charset="-122"/>
                <a:cs typeface="JetBrains Mono" pitchFamily="49" charset="-120"/>
              </a:rPr>
              <a:t>1 hour</a:t>
            </a:r>
            <a:endParaRPr lang="en-US" sz="1300" dirty="0"/>
          </a:p>
        </p:txBody>
      </p:sp>
      <p:pic>
        <p:nvPicPr>
          <p:cNvPr id="13" name="Image 4" descr="arrow-right"/>
          <p:cNvPicPr>
            <a:picLocks noChangeAspect="1"/>
          </p:cNvPicPr>
          <p:nvPr/>
        </p:nvPicPr>
        <p:blipFill>
          <a:blip r:embed="rId3"/>
          <a:srcRect/>
          <a:stretch/>
        </p:blipFill>
        <p:spPr>
          <a:xfrm>
            <a:off x="6611739" y="1951831"/>
            <a:ext cx="228600" cy="127000"/>
          </a:xfrm>
          <a:prstGeom prst="rect">
            <a:avLst/>
          </a:prstGeom>
        </p:spPr>
      </p:pic>
      <p:sp>
        <p:nvSpPr>
          <p:cNvPr id="14" name="Text 7"/>
          <p:cNvSpPr/>
          <p:nvPr/>
        </p:nvSpPr>
        <p:spPr>
          <a:xfrm>
            <a:off x="6916539" y="1823641"/>
            <a:ext cx="998240" cy="383480"/>
          </a:xfrm>
          <a:prstGeom prst="roundRect">
            <a:avLst>
              <a:gd name="adj" fmla="val 50000"/>
            </a:avLst>
          </a:prstGeom>
          <a:solidFill>
            <a:srgbClr val="E1EFF2"/>
          </a:solidFill>
          <a:ln/>
        </p:spPr>
        <p:txBody>
          <a:bodyPr wrap="none" lIns="0" tIns="0" rIns="0" bIns="0" rtlCol="0" anchor="ctr">
            <a:normAutofit/>
          </a:bodyPr>
          <a:lstStyle/>
          <a:p>
            <a:pPr marL="0" indent="0" algn="ctr">
              <a:lnSpc>
                <a:spcPts val="1820"/>
              </a:lnSpc>
              <a:buNone/>
            </a:pPr>
            <a:r>
              <a:rPr lang="en-US" sz="1300" dirty="0">
                <a:solidFill>
                  <a:srgbClr val="0D6A7E"/>
                </a:solidFill>
                <a:latin typeface="JetBrains Mono" pitchFamily="49" charset="0"/>
                <a:ea typeface="JetBrains Mono" pitchFamily="49" charset="-122"/>
                <a:cs typeface="JetBrains Mono" pitchFamily="49" charset="-120"/>
              </a:rPr>
              <a:t>4 hours</a:t>
            </a:r>
            <a:endParaRPr lang="en-US" sz="1300" dirty="0"/>
          </a:p>
        </p:txBody>
      </p:sp>
      <p:pic>
        <p:nvPicPr>
          <p:cNvPr id="15" name="Image 5" descr="arrow-right"/>
          <p:cNvPicPr>
            <a:picLocks noChangeAspect="1"/>
          </p:cNvPicPr>
          <p:nvPr/>
        </p:nvPicPr>
        <p:blipFill>
          <a:blip r:embed="rId3"/>
          <a:srcRect/>
          <a:stretch/>
        </p:blipFill>
        <p:spPr>
          <a:xfrm>
            <a:off x="7990979" y="1951831"/>
            <a:ext cx="228600" cy="127000"/>
          </a:xfrm>
          <a:prstGeom prst="rect">
            <a:avLst/>
          </a:prstGeom>
        </p:spPr>
      </p:pic>
      <p:sp>
        <p:nvSpPr>
          <p:cNvPr id="16" name="Text 8"/>
          <p:cNvSpPr/>
          <p:nvPr/>
        </p:nvSpPr>
        <p:spPr>
          <a:xfrm>
            <a:off x="8295779" y="1823641"/>
            <a:ext cx="1097359" cy="383480"/>
          </a:xfrm>
          <a:prstGeom prst="roundRect">
            <a:avLst>
              <a:gd name="adj" fmla="val 50000"/>
            </a:avLst>
          </a:prstGeom>
          <a:solidFill>
            <a:srgbClr val="14212B"/>
          </a:solidFill>
          <a:ln/>
        </p:spPr>
        <p:txBody>
          <a:bodyPr wrap="none" lIns="0" tIns="0" rIns="0" bIns="0" rtlCol="0" anchor="ctr">
            <a:normAutofit/>
          </a:bodyPr>
          <a:lstStyle/>
          <a:p>
            <a:pPr marL="0" indent="0" algn="ctr">
              <a:lnSpc>
                <a:spcPts val="1820"/>
              </a:lnSpc>
              <a:buNone/>
            </a:pPr>
            <a:r>
              <a:rPr lang="en-US" sz="1300" b="1" dirty="0">
                <a:solidFill>
                  <a:srgbClr val="EEF3F5"/>
                </a:solidFill>
                <a:latin typeface="JetBrains Mono" pitchFamily="49" charset="0"/>
                <a:ea typeface="JetBrains Mono" pitchFamily="49" charset="-122"/>
                <a:cs typeface="JetBrains Mono" pitchFamily="49" charset="-120"/>
              </a:rPr>
              <a:t>A person</a:t>
            </a:r>
            <a:endParaRPr lang="en-US" sz="1300" dirty="0"/>
          </a:p>
        </p:txBody>
      </p:sp>
      <p:sp>
        <p:nvSpPr>
          <p:cNvPr id="17" name="Text 9"/>
          <p:cNvSpPr/>
          <p:nvPr/>
        </p:nvSpPr>
        <p:spPr>
          <a:xfrm>
            <a:off x="812800" y="2296021"/>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Only for failures that can succeed later: a missing dependency or a temporary blip. Broken letters never retry on their own.</a:t>
            </a:r>
            <a:endParaRPr lang="en-US" sz="1300" dirty="0"/>
          </a:p>
        </p:txBody>
      </p:sp>
      <p:sp>
        <p:nvSpPr>
          <p:cNvPr id="18" name="Shape 10"/>
          <p:cNvSpPr/>
          <p:nvPr/>
        </p:nvSpPr>
        <p:spPr>
          <a:xfrm>
            <a:off x="815975" y="2758877"/>
            <a:ext cx="5207000" cy="2104033"/>
          </a:xfrm>
          <a:prstGeom prst="roundRect">
            <a:avLst>
              <a:gd name="adj" fmla="val 3471"/>
            </a:avLst>
          </a:prstGeom>
          <a:solidFill>
            <a:srgbClr val="FBFCFC"/>
          </a:solidFill>
          <a:ln w="6350">
            <a:solidFill>
              <a:srgbClr val="D3DBE0"/>
            </a:solidFill>
            <a:prstDash val="solid"/>
          </a:ln>
        </p:spPr>
      </p:sp>
      <p:sp>
        <p:nvSpPr>
          <p:cNvPr id="19" name="Text 11"/>
          <p:cNvSpPr/>
          <p:nvPr/>
        </p:nvSpPr>
        <p:spPr>
          <a:xfrm>
            <a:off x="1022350" y="2965252"/>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2B"/>
                </a:solidFill>
                <a:latin typeface="IBM Plex Sans" pitchFamily="34" charset="0"/>
                <a:ea typeface="IBM Plex Sans" pitchFamily="34" charset="-122"/>
                <a:cs typeface="IBM Plex Sans" pitchFamily="34" charset="-120"/>
              </a:rPr>
              <a:t>Manual replay, with bank controls</a:t>
            </a:r>
            <a:endParaRPr lang="en-US" sz="1600" dirty="0"/>
          </a:p>
        </p:txBody>
      </p:sp>
      <p:sp>
        <p:nvSpPr>
          <p:cNvPr id="20" name="Text 12"/>
          <p:cNvSpPr/>
          <p:nvPr/>
        </p:nvSpPr>
        <p:spPr>
          <a:xfrm>
            <a:off x="1107694" y="3297932"/>
            <a:ext cx="4845114" cy="10160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4B5B67"/>
                </a:solidFill>
                <a:latin typeface="IBM Plex Sans" pitchFamily="34" charset="0"/>
                <a:ea typeface="IBM Plex Sans" pitchFamily="34" charset="-122"/>
                <a:cs typeface="IBM Plex Sans" pitchFamily="34" charset="-120"/>
              </a:rPr>
              <a:t>Shows the count before anything changes</a:t>
            </a:r>
            <a:endParaRPr lang="en-US" sz="1300" dirty="0"/>
          </a:p>
          <a:p>
            <a:pPr marL="168656" indent="-168656" algn="l">
              <a:lnSpc>
                <a:spcPts val="1950"/>
              </a:lnSpc>
              <a:buSzPct val="100000"/>
              <a:buChar char="•"/>
            </a:pPr>
            <a:r>
              <a:rPr lang="en-US" sz="1300" dirty="0">
                <a:solidFill>
                  <a:srgbClr val="4B5B67"/>
                </a:solidFill>
                <a:latin typeface="IBM Plex Sans" pitchFamily="34" charset="0"/>
                <a:ea typeface="IBM Plex Sans" pitchFamily="34" charset="-122"/>
                <a:cs typeface="IBM Plex Sans" pitchFamily="34" charset="-120"/>
              </a:rPr>
              <a:t>A second person approves big replays</a:t>
            </a:r>
            <a:endParaRPr lang="en-US" sz="1300" dirty="0"/>
          </a:p>
          <a:p>
            <a:pPr marL="168656" indent="-168656" algn="l">
              <a:lnSpc>
                <a:spcPts val="1950"/>
              </a:lnSpc>
              <a:buSzPct val="100000"/>
              <a:buChar char="•"/>
            </a:pPr>
            <a:r>
              <a:rPr lang="en-US" sz="1300" dirty="0">
                <a:solidFill>
                  <a:srgbClr val="4B5B67"/>
                </a:solidFill>
                <a:latin typeface="IBM Plex Sans" pitchFamily="34" charset="0"/>
                <a:ea typeface="IBM Plex Sans" pitchFamily="34" charset="-122"/>
                <a:cs typeface="IBM Plex Sans" pitchFamily="34" charset="-120"/>
              </a:rPr>
              <a:t>Rate-limited, so the database isn’t flooded</a:t>
            </a:r>
            <a:endParaRPr lang="en-US" sz="1300" dirty="0"/>
          </a:p>
          <a:p>
            <a:pPr marL="168656" indent="-168656" algn="l">
              <a:lnSpc>
                <a:spcPts val="1950"/>
              </a:lnSpc>
              <a:buSzPct val="100000"/>
              <a:buChar char="•"/>
            </a:pPr>
            <a:r>
              <a:rPr lang="en-US" sz="1300" dirty="0">
                <a:solidFill>
                  <a:srgbClr val="4B5B67"/>
                </a:solidFill>
                <a:latin typeface="IBM Plex Sans" pitchFamily="34" charset="0"/>
                <a:ea typeface="IBM Plex Sans" pitchFamily="34" charset="-122"/>
                <a:cs typeface="IBM Plex Sans" pitchFamily="34" charset="-120"/>
              </a:rPr>
              <a:t>Every action audited: who, what, when, why</a:t>
            </a:r>
            <a:endParaRPr lang="en-US" sz="1300" dirty="0"/>
          </a:p>
        </p:txBody>
      </p:sp>
      <p:sp>
        <p:nvSpPr>
          <p:cNvPr id="21" name="Shape 13"/>
          <p:cNvSpPr/>
          <p:nvPr/>
        </p:nvSpPr>
        <p:spPr>
          <a:xfrm>
            <a:off x="6178550" y="2755702"/>
            <a:ext cx="5200650" cy="2110383"/>
          </a:xfrm>
          <a:prstGeom prst="roundRect">
            <a:avLst>
              <a:gd name="adj" fmla="val 3611"/>
            </a:avLst>
          </a:prstGeom>
          <a:solidFill>
            <a:srgbClr val="10202A"/>
          </a:solidFill>
          <a:ln/>
        </p:spPr>
      </p:sp>
      <p:sp>
        <p:nvSpPr>
          <p:cNvPr id="22" name="Text 14"/>
          <p:cNvSpPr/>
          <p:nvPr/>
        </p:nvSpPr>
        <p:spPr>
          <a:xfrm>
            <a:off x="6381750" y="2958902"/>
            <a:ext cx="4938078"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3F5"/>
                </a:solidFill>
                <a:latin typeface="IBM Plex Sans" pitchFamily="34" charset="0"/>
                <a:ea typeface="IBM Plex Sans" pitchFamily="34" charset="-122"/>
                <a:cs typeface="IBM Plex Sans" pitchFamily="34" charset="-120"/>
              </a:rPr>
              <a:t>Why replay can’t damage data</a:t>
            </a:r>
            <a:endParaRPr lang="en-US" sz="1600" dirty="0"/>
          </a:p>
        </p:txBody>
      </p:sp>
      <p:sp>
        <p:nvSpPr>
          <p:cNvPr id="23" name="Text 15"/>
          <p:cNvSpPr/>
          <p:nvPr/>
        </p:nvSpPr>
        <p:spPr>
          <a:xfrm>
            <a:off x="6381750" y="3278882"/>
            <a:ext cx="49380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Mon v3 €1,000 </a:t>
            </a:r>
            <a:r>
              <a:rPr lang="en-US" sz="1300" dirty="0">
                <a:solidFill>
                  <a:srgbClr val="E39A5C"/>
                </a:solidFill>
                <a:latin typeface="JetBrains Mono" pitchFamily="49" charset="0"/>
                <a:ea typeface="JetBrains Mono" pitchFamily="49" charset="-122"/>
                <a:cs typeface="JetBrains Mono" pitchFamily="49" charset="-120"/>
              </a:rPr>
              <a:t>FAILED</a:t>
            </a:r>
            <a:endParaRPr lang="en-US" sz="1300" dirty="0"/>
          </a:p>
        </p:txBody>
      </p:sp>
      <p:sp>
        <p:nvSpPr>
          <p:cNvPr id="24" name="Text 16"/>
          <p:cNvSpPr/>
          <p:nvPr/>
        </p:nvSpPr>
        <p:spPr>
          <a:xfrm>
            <a:off x="6381750" y="3586163"/>
            <a:ext cx="49380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Tue v4 €1,250 </a:t>
            </a:r>
            <a:r>
              <a:rPr lang="en-US" sz="1300" dirty="0">
                <a:solidFill>
                  <a:srgbClr val="5CC0D3"/>
                </a:solidFill>
                <a:latin typeface="JetBrains Mono" pitchFamily="49" charset="0"/>
                <a:ea typeface="JetBrains Mono" pitchFamily="49" charset="-122"/>
                <a:cs typeface="JetBrains Mono" pitchFamily="49" charset="-120"/>
              </a:rPr>
              <a:t>applied</a:t>
            </a:r>
            <a:endParaRPr lang="en-US" sz="1300" dirty="0"/>
          </a:p>
        </p:txBody>
      </p:sp>
      <p:sp>
        <p:nvSpPr>
          <p:cNvPr id="25" name="Text 17"/>
          <p:cNvSpPr/>
          <p:nvPr/>
        </p:nvSpPr>
        <p:spPr>
          <a:xfrm>
            <a:off x="6381750" y="3893443"/>
            <a:ext cx="493807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Wed replay v3 </a:t>
            </a:r>
            <a:r>
              <a:rPr lang="en-US" sz="1300" dirty="0">
                <a:solidFill>
                  <a:srgbClr val="A9BAC3"/>
                </a:solidFill>
                <a:latin typeface="JetBrains Mono" pitchFamily="49" charset="0"/>
                <a:ea typeface="JetBrains Mono" pitchFamily="49" charset="-122"/>
                <a:cs typeface="JetBrains Mono" pitchFamily="49" charset="-120"/>
              </a:rPr>
              <a:t>→ STALE</a:t>
            </a:r>
            <a:endParaRPr lang="en-US" sz="1300" dirty="0"/>
          </a:p>
        </p:txBody>
      </p:sp>
      <p:sp>
        <p:nvSpPr>
          <p:cNvPr id="26" name="Text 18"/>
          <p:cNvSpPr/>
          <p:nvPr/>
        </p:nvSpPr>
        <p:spPr>
          <a:xfrm>
            <a:off x="6381750" y="4200723"/>
            <a:ext cx="4938078"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AC3"/>
                </a:solidFill>
                <a:latin typeface="IBM Plex Sans" pitchFamily="34" charset="0"/>
                <a:ea typeface="IBM Plex Sans" pitchFamily="34" charset="-122"/>
                <a:cs typeface="IBM Plex Sans" pitchFamily="34" charset="-120"/>
              </a:rPr>
              <a:t>The account keeps v4. Replays use the same pipeline as live records.</a:t>
            </a:r>
            <a:endParaRPr lang="en-US" sz="1300" dirty="0"/>
          </a:p>
        </p:txBody>
      </p:sp>
      <p:sp>
        <p:nvSpPr>
          <p:cNvPr id="27" name="Text 19"/>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28" name="Text 20"/>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5 · SUDDEN LOAD</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Kafka is the waiting room; the database sets the pace</a:t>
            </a:r>
            <a:endParaRPr lang="en-US" sz="3200" dirty="0"/>
          </a:p>
        </p:txBody>
      </p:sp>
      <p:sp>
        <p:nvSpPr>
          <p:cNvPr id="4" name="Shape 2"/>
          <p:cNvSpPr/>
          <p:nvPr/>
        </p:nvSpPr>
        <p:spPr>
          <a:xfrm>
            <a:off x="812800" y="1855391"/>
            <a:ext cx="3420467" cy="0"/>
          </a:xfrm>
          <a:prstGeom prst="line">
            <a:avLst/>
          </a:prstGeom>
          <a:noFill/>
          <a:ln w="12700">
            <a:solidFill>
              <a:srgbClr val="14212B"/>
            </a:solidFill>
            <a:prstDash val="solid"/>
          </a:ln>
        </p:spPr>
      </p:sp>
      <p:sp>
        <p:nvSpPr>
          <p:cNvPr id="5" name="Text 3"/>
          <p:cNvSpPr/>
          <p:nvPr/>
        </p:nvSpPr>
        <p:spPr>
          <a:xfrm>
            <a:off x="812800" y="1988741"/>
            <a:ext cx="3523081"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4212B"/>
                </a:solidFill>
                <a:latin typeface="IBM Plex Sans" pitchFamily="34" charset="0"/>
                <a:ea typeface="IBM Plex Sans" pitchFamily="34" charset="-122"/>
                <a:cs typeface="IBM Plex Sans" pitchFamily="34" charset="-120"/>
              </a:rPr>
              <a:t>20M</a:t>
            </a:r>
            <a:endParaRPr lang="en-US" sz="4800" dirty="0"/>
          </a:p>
        </p:txBody>
      </p:sp>
      <p:sp>
        <p:nvSpPr>
          <p:cNvPr id="6" name="Text 4"/>
          <p:cNvSpPr/>
          <p:nvPr/>
        </p:nvSpPr>
        <p:spPr>
          <a:xfrm>
            <a:off x="812800" y="2679601"/>
            <a:ext cx="3523081"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account events a day at peak volume</a:t>
            </a:r>
            <a:endParaRPr lang="en-US" sz="1300" dirty="0"/>
          </a:p>
        </p:txBody>
      </p:sp>
      <p:sp>
        <p:nvSpPr>
          <p:cNvPr id="7" name="Shape 5"/>
          <p:cNvSpPr/>
          <p:nvPr/>
        </p:nvSpPr>
        <p:spPr>
          <a:xfrm>
            <a:off x="4385667" y="1855391"/>
            <a:ext cx="3420566" cy="0"/>
          </a:xfrm>
          <a:prstGeom prst="line">
            <a:avLst/>
          </a:prstGeom>
          <a:noFill/>
          <a:ln w="12700">
            <a:solidFill>
              <a:srgbClr val="14212B"/>
            </a:solidFill>
            <a:prstDash val="solid"/>
          </a:ln>
        </p:spPr>
      </p:sp>
      <p:sp>
        <p:nvSpPr>
          <p:cNvPr id="8" name="Text 6"/>
          <p:cNvSpPr/>
          <p:nvPr/>
        </p:nvSpPr>
        <p:spPr>
          <a:xfrm>
            <a:off x="4385667" y="1988741"/>
            <a:ext cx="3523183"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14212B"/>
                </a:solidFill>
                <a:latin typeface="IBM Plex Sans" pitchFamily="34" charset="0"/>
                <a:ea typeface="IBM Plex Sans" pitchFamily="34" charset="-122"/>
                <a:cs typeface="IBM Plex Sans" pitchFamily="34" charset="-120"/>
              </a:rPr>
              <a:t>~2,300/s</a:t>
            </a:r>
            <a:endParaRPr lang="en-US" sz="4800" dirty="0"/>
          </a:p>
        </p:txBody>
      </p:sp>
      <p:sp>
        <p:nvSpPr>
          <p:cNvPr id="9" name="Text 7"/>
          <p:cNvSpPr/>
          <p:nvPr/>
        </p:nvSpPr>
        <p:spPr>
          <a:xfrm>
            <a:off x="4385667" y="2679601"/>
            <a:ext cx="35231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a 10× burst over the ~230/s average</a:t>
            </a:r>
            <a:endParaRPr lang="en-US" sz="1300" dirty="0"/>
          </a:p>
        </p:txBody>
      </p:sp>
      <p:sp>
        <p:nvSpPr>
          <p:cNvPr id="10" name="Shape 8"/>
          <p:cNvSpPr/>
          <p:nvPr/>
        </p:nvSpPr>
        <p:spPr>
          <a:xfrm>
            <a:off x="7958634" y="1855391"/>
            <a:ext cx="3420566" cy="0"/>
          </a:xfrm>
          <a:prstGeom prst="line">
            <a:avLst/>
          </a:prstGeom>
          <a:noFill/>
          <a:ln w="12700">
            <a:solidFill>
              <a:srgbClr val="0D6A7E"/>
            </a:solidFill>
            <a:prstDash val="solid"/>
          </a:ln>
        </p:spPr>
      </p:sp>
      <p:sp>
        <p:nvSpPr>
          <p:cNvPr id="11" name="Text 9"/>
          <p:cNvSpPr/>
          <p:nvPr/>
        </p:nvSpPr>
        <p:spPr>
          <a:xfrm>
            <a:off x="7958634" y="1988741"/>
            <a:ext cx="3523183" cy="665460"/>
          </a:xfrm>
          <a:prstGeom prst="rect">
            <a:avLst/>
          </a:prstGeom>
          <a:noFill/>
          <a:ln/>
        </p:spPr>
        <p:txBody>
          <a:bodyPr wrap="square" lIns="0" tIns="0" rIns="0" bIns="0" rtlCol="0" anchor="t">
            <a:normAutofit/>
          </a:bodyPr>
          <a:lstStyle/>
          <a:p>
            <a:pPr marL="0" indent="0" algn="l">
              <a:lnSpc>
                <a:spcPts val="5040"/>
              </a:lnSpc>
              <a:buNone/>
            </a:pPr>
            <a:r>
              <a:rPr lang="en-US" sz="4800" b="1" kern="0" spc="-100" dirty="0">
                <a:solidFill>
                  <a:srgbClr val="0D6A7E"/>
                </a:solidFill>
                <a:latin typeface="IBM Plex Sans" pitchFamily="34" charset="0"/>
                <a:ea typeface="IBM Plex Sans" pitchFamily="34" charset="-122"/>
                <a:cs typeface="IBM Plex Sans" pitchFamily="34" charset="-120"/>
              </a:rPr>
              <a:t>500</a:t>
            </a:r>
            <a:endParaRPr lang="en-US" sz="4800" dirty="0"/>
          </a:p>
        </p:txBody>
      </p:sp>
      <p:sp>
        <p:nvSpPr>
          <p:cNvPr id="12" name="Text 10"/>
          <p:cNvSpPr/>
          <p:nvPr/>
        </p:nvSpPr>
        <p:spPr>
          <a:xfrm>
            <a:off x="7958634" y="2679601"/>
            <a:ext cx="3523183"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records per database transaction</a:t>
            </a:r>
            <a:endParaRPr lang="en-US" sz="1300" dirty="0"/>
          </a:p>
        </p:txBody>
      </p:sp>
      <p:sp>
        <p:nvSpPr>
          <p:cNvPr id="13" name="Shape 11"/>
          <p:cNvSpPr/>
          <p:nvPr/>
        </p:nvSpPr>
        <p:spPr>
          <a:xfrm>
            <a:off x="815975" y="3167856"/>
            <a:ext cx="2540000" cy="1090811"/>
          </a:xfrm>
          <a:prstGeom prst="roundRect">
            <a:avLst>
              <a:gd name="adj" fmla="val 5530"/>
            </a:avLst>
          </a:prstGeom>
          <a:solidFill>
            <a:srgbClr val="FBFCFC"/>
          </a:solidFill>
          <a:ln w="6350">
            <a:solidFill>
              <a:srgbClr val="D3DBE0"/>
            </a:solidFill>
            <a:prstDash val="solid"/>
          </a:ln>
        </p:spPr>
      </p:sp>
      <p:sp>
        <p:nvSpPr>
          <p:cNvPr id="14" name="Text 12"/>
          <p:cNvSpPr/>
          <p:nvPr/>
        </p:nvSpPr>
        <p:spPr>
          <a:xfrm>
            <a:off x="984250" y="3336131"/>
            <a:ext cx="22695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2B"/>
                </a:solidFill>
                <a:latin typeface="IBM Plex Sans" pitchFamily="34" charset="0"/>
                <a:ea typeface="IBM Plex Sans" pitchFamily="34" charset="-122"/>
                <a:cs typeface="IBM Plex Sans" pitchFamily="34" charset="-120"/>
              </a:rPr>
              <a:t>Batch</a:t>
            </a:r>
            <a:endParaRPr lang="en-US" sz="1500" dirty="0"/>
          </a:p>
        </p:txBody>
      </p:sp>
      <p:sp>
        <p:nvSpPr>
          <p:cNvPr id="15" name="Text 13"/>
          <p:cNvSpPr/>
          <p:nvPr/>
        </p:nvSpPr>
        <p:spPr>
          <a:xfrm>
            <a:off x="984250" y="3628231"/>
            <a:ext cx="22695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One database trip per poll of 500</a:t>
            </a:r>
            <a:endParaRPr lang="en-US" sz="1300" dirty="0"/>
          </a:p>
        </p:txBody>
      </p:sp>
      <p:sp>
        <p:nvSpPr>
          <p:cNvPr id="16" name="Shape 14"/>
          <p:cNvSpPr/>
          <p:nvPr/>
        </p:nvSpPr>
        <p:spPr>
          <a:xfrm>
            <a:off x="3489325" y="3167856"/>
            <a:ext cx="2540000" cy="1090811"/>
          </a:xfrm>
          <a:prstGeom prst="roundRect">
            <a:avLst>
              <a:gd name="adj" fmla="val 5530"/>
            </a:avLst>
          </a:prstGeom>
          <a:solidFill>
            <a:srgbClr val="FBFCFC"/>
          </a:solidFill>
          <a:ln w="6350">
            <a:solidFill>
              <a:srgbClr val="D3DBE0"/>
            </a:solidFill>
            <a:prstDash val="solid"/>
          </a:ln>
        </p:spPr>
      </p:sp>
      <p:sp>
        <p:nvSpPr>
          <p:cNvPr id="17" name="Text 15"/>
          <p:cNvSpPr/>
          <p:nvPr/>
        </p:nvSpPr>
        <p:spPr>
          <a:xfrm>
            <a:off x="3657600" y="3336131"/>
            <a:ext cx="22695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2B"/>
                </a:solidFill>
                <a:latin typeface="IBM Plex Sans" pitchFamily="34" charset="0"/>
                <a:ea typeface="IBM Plex Sans" pitchFamily="34" charset="-122"/>
                <a:cs typeface="IBM Plex Sans" pitchFamily="34" charset="-120"/>
              </a:rPr>
              <a:t>Coalesce</a:t>
            </a:r>
            <a:endParaRPr lang="en-US" sz="1500" dirty="0"/>
          </a:p>
        </p:txBody>
      </p:sp>
      <p:sp>
        <p:nvSpPr>
          <p:cNvPr id="18" name="Text 16"/>
          <p:cNvSpPr/>
          <p:nvPr/>
        </p:nvSpPr>
        <p:spPr>
          <a:xfrm>
            <a:off x="3657600" y="3628231"/>
            <a:ext cx="22695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Several versions of an account: write the newest</a:t>
            </a:r>
            <a:endParaRPr lang="en-US" sz="1300" dirty="0"/>
          </a:p>
        </p:txBody>
      </p:sp>
      <p:sp>
        <p:nvSpPr>
          <p:cNvPr id="19" name="Shape 17"/>
          <p:cNvSpPr/>
          <p:nvPr/>
        </p:nvSpPr>
        <p:spPr>
          <a:xfrm>
            <a:off x="6162675" y="3167856"/>
            <a:ext cx="2540000" cy="1090811"/>
          </a:xfrm>
          <a:prstGeom prst="roundRect">
            <a:avLst>
              <a:gd name="adj" fmla="val 5530"/>
            </a:avLst>
          </a:prstGeom>
          <a:solidFill>
            <a:srgbClr val="FBFCFC"/>
          </a:solidFill>
          <a:ln w="6350">
            <a:solidFill>
              <a:srgbClr val="D3DBE0"/>
            </a:solidFill>
            <a:prstDash val="solid"/>
          </a:ln>
        </p:spPr>
      </p:sp>
      <p:sp>
        <p:nvSpPr>
          <p:cNvPr id="20" name="Text 18"/>
          <p:cNvSpPr/>
          <p:nvPr/>
        </p:nvSpPr>
        <p:spPr>
          <a:xfrm>
            <a:off x="6330950" y="3336131"/>
            <a:ext cx="22695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2B"/>
                </a:solidFill>
                <a:latin typeface="IBM Plex Sans" pitchFamily="34" charset="0"/>
                <a:ea typeface="IBM Plex Sans" pitchFamily="34" charset="-122"/>
                <a:cs typeface="IBM Plex Sans" pitchFamily="34" charset="-120"/>
              </a:rPr>
              <a:t>Bisect</a:t>
            </a:r>
            <a:endParaRPr lang="en-US" sz="1500" dirty="0"/>
          </a:p>
        </p:txBody>
      </p:sp>
      <p:sp>
        <p:nvSpPr>
          <p:cNvPr id="21" name="Text 19"/>
          <p:cNvSpPr/>
          <p:nvPr/>
        </p:nvSpPr>
        <p:spPr>
          <a:xfrm>
            <a:off x="6330950" y="3628231"/>
            <a:ext cx="22695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A bad batch halves until the bad record is found</a:t>
            </a:r>
            <a:endParaRPr lang="en-US" sz="1300" dirty="0"/>
          </a:p>
        </p:txBody>
      </p:sp>
      <p:sp>
        <p:nvSpPr>
          <p:cNvPr id="22" name="Shape 20"/>
          <p:cNvSpPr/>
          <p:nvPr/>
        </p:nvSpPr>
        <p:spPr>
          <a:xfrm>
            <a:off x="8836025" y="3167856"/>
            <a:ext cx="2540000" cy="1090811"/>
          </a:xfrm>
          <a:prstGeom prst="roundRect">
            <a:avLst>
              <a:gd name="adj" fmla="val 5530"/>
            </a:avLst>
          </a:prstGeom>
          <a:solidFill>
            <a:srgbClr val="FBFCFC"/>
          </a:solidFill>
          <a:ln w="6350">
            <a:solidFill>
              <a:srgbClr val="D3DBE0"/>
            </a:solidFill>
            <a:prstDash val="solid"/>
          </a:ln>
        </p:spPr>
      </p:sp>
      <p:sp>
        <p:nvSpPr>
          <p:cNvPr id="23" name="Text 21"/>
          <p:cNvSpPr/>
          <p:nvPr/>
        </p:nvSpPr>
        <p:spPr>
          <a:xfrm>
            <a:off x="9004300" y="3336131"/>
            <a:ext cx="226955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2B"/>
                </a:solidFill>
                <a:latin typeface="IBM Plex Sans" pitchFamily="34" charset="0"/>
                <a:ea typeface="IBM Plex Sans" pitchFamily="34" charset="-122"/>
                <a:cs typeface="IBM Plex Sans" pitchFamily="34" charset="-120"/>
              </a:rPr>
              <a:t>Capped scaling</a:t>
            </a:r>
            <a:endParaRPr lang="en-US" sz="1500" dirty="0"/>
          </a:p>
        </p:txBody>
      </p:sp>
      <p:sp>
        <p:nvSpPr>
          <p:cNvPr id="24" name="Text 22"/>
          <p:cNvSpPr/>
          <p:nvPr/>
        </p:nvSpPr>
        <p:spPr>
          <a:xfrm>
            <a:off x="9004300" y="3628231"/>
            <a:ext cx="2269554"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Pods scale on lag, up to what Azure SQL absorbs</a:t>
            </a:r>
            <a:endParaRPr lang="en-US" sz="1300" dirty="0"/>
          </a:p>
        </p:txBody>
      </p:sp>
      <p:sp>
        <p:nvSpPr>
          <p:cNvPr id="25" name="Text 23"/>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 · Rates and limits to confirm in a load test</a:t>
            </a:r>
            <a:endParaRPr lang="en-US" sz="1200" dirty="0"/>
          </a:p>
        </p:txBody>
      </p:sp>
      <p:sp>
        <p:nvSpPr>
          <p:cNvPr id="26" name="Text 2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6 · ANNOUNCEMENTS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No lost announcements, no false ones</a:t>
            </a:r>
            <a:endParaRPr lang="en-US" sz="3200" dirty="0"/>
          </a:p>
        </p:txBody>
      </p:sp>
      <p:sp>
        <p:nvSpPr>
          <p:cNvPr id="4" name="Shape 2"/>
          <p:cNvSpPr/>
          <p:nvPr/>
        </p:nvSpPr>
        <p:spPr>
          <a:xfrm>
            <a:off x="812800" y="1874441"/>
            <a:ext cx="6578600" cy="784721"/>
          </a:xfrm>
          <a:prstGeom prst="roundRect">
            <a:avLst>
              <a:gd name="adj" fmla="val 8092"/>
            </a:avLst>
          </a:prstGeom>
          <a:solidFill>
            <a:srgbClr val="10202A"/>
          </a:solidFill>
          <a:ln/>
        </p:spPr>
      </p:sp>
      <p:sp>
        <p:nvSpPr>
          <p:cNvPr id="5" name="Text 3"/>
          <p:cNvSpPr/>
          <p:nvPr/>
        </p:nvSpPr>
        <p:spPr>
          <a:xfrm>
            <a:off x="990600" y="2014141"/>
            <a:ext cx="640969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EEF3F5"/>
                </a:solidFill>
                <a:latin typeface="IBM Plex Sans" pitchFamily="34" charset="0"/>
                <a:ea typeface="IBM Plex Sans" pitchFamily="34" charset="-122"/>
                <a:cs typeface="IBM Plex Sans" pitchFamily="34" charset="-120"/>
              </a:rPr>
              <a:t>Consumer transaction</a:t>
            </a:r>
            <a:endParaRPr lang="en-US" sz="1400" dirty="0"/>
          </a:p>
        </p:txBody>
      </p:sp>
      <p:sp>
        <p:nvSpPr>
          <p:cNvPr id="6" name="Text 4"/>
          <p:cNvSpPr/>
          <p:nvPr/>
        </p:nvSpPr>
        <p:spPr>
          <a:xfrm>
            <a:off x="990600" y="2288381"/>
            <a:ext cx="640969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AC3"/>
                </a:solidFill>
                <a:latin typeface="IBM Plex Sans" pitchFamily="34" charset="0"/>
                <a:ea typeface="IBM Plex Sans" pitchFamily="34" charset="-122"/>
                <a:cs typeface="IBM Plex Sans" pitchFamily="34" charset="-120"/>
              </a:rPr>
              <a:t>Account change and outbox note saved together</a:t>
            </a:r>
            <a:endParaRPr lang="en-US" sz="1300" dirty="0"/>
          </a:p>
        </p:txBody>
      </p:sp>
      <p:pic>
        <p:nvPicPr>
          <p:cNvPr id="7" name="Image 0" descr="arrow-down"/>
          <p:cNvPicPr>
            <a:picLocks noChangeAspect="1"/>
          </p:cNvPicPr>
          <p:nvPr/>
        </p:nvPicPr>
        <p:blipFill>
          <a:blip r:embed="rId3"/>
          <a:srcRect/>
          <a:stretch/>
        </p:blipFill>
        <p:spPr>
          <a:xfrm>
            <a:off x="4013200" y="2735362"/>
            <a:ext cx="177800" cy="228600"/>
          </a:xfrm>
          <a:prstGeom prst="rect">
            <a:avLst/>
          </a:prstGeom>
        </p:spPr>
      </p:pic>
      <p:sp>
        <p:nvSpPr>
          <p:cNvPr id="8" name="Shape 5"/>
          <p:cNvSpPr/>
          <p:nvPr/>
        </p:nvSpPr>
        <p:spPr>
          <a:xfrm>
            <a:off x="815975" y="3043337"/>
            <a:ext cx="6572250" cy="791071"/>
          </a:xfrm>
          <a:prstGeom prst="roundRect">
            <a:avLst>
              <a:gd name="adj" fmla="val 7626"/>
            </a:avLst>
          </a:prstGeom>
          <a:solidFill>
            <a:srgbClr val="FBFCFC"/>
          </a:solidFill>
          <a:ln w="6350">
            <a:solidFill>
              <a:srgbClr val="D3DBE0"/>
            </a:solidFill>
            <a:prstDash val="solid"/>
          </a:ln>
        </p:spPr>
      </p:sp>
      <p:sp>
        <p:nvSpPr>
          <p:cNvPr id="9" name="Text 6"/>
          <p:cNvSpPr/>
          <p:nvPr/>
        </p:nvSpPr>
        <p:spPr>
          <a:xfrm>
            <a:off x="996950" y="3186212"/>
            <a:ext cx="639660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Postman</a:t>
            </a:r>
            <a:endParaRPr lang="en-US" sz="1400" dirty="0"/>
          </a:p>
        </p:txBody>
      </p:sp>
      <p:sp>
        <p:nvSpPr>
          <p:cNvPr id="10" name="Text 7"/>
          <p:cNvSpPr/>
          <p:nvPr/>
        </p:nvSpPr>
        <p:spPr>
          <a:xfrm>
            <a:off x="996950" y="3460452"/>
            <a:ext cx="639660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16 shards, one sender each: per-account order kept</a:t>
            </a:r>
            <a:endParaRPr lang="en-US" sz="1300" dirty="0"/>
          </a:p>
        </p:txBody>
      </p:sp>
      <p:pic>
        <p:nvPicPr>
          <p:cNvPr id="11" name="Image 1" descr="arrow-down"/>
          <p:cNvPicPr>
            <a:picLocks noChangeAspect="1"/>
          </p:cNvPicPr>
          <p:nvPr/>
        </p:nvPicPr>
        <p:blipFill>
          <a:blip r:embed="rId3"/>
          <a:srcRect/>
          <a:stretch/>
        </p:blipFill>
        <p:spPr>
          <a:xfrm>
            <a:off x="4013200" y="3913783"/>
            <a:ext cx="177800" cy="228600"/>
          </a:xfrm>
          <a:prstGeom prst="rect">
            <a:avLst/>
          </a:prstGeom>
        </p:spPr>
      </p:pic>
      <p:sp>
        <p:nvSpPr>
          <p:cNvPr id="12" name="Shape 8"/>
          <p:cNvSpPr/>
          <p:nvPr/>
        </p:nvSpPr>
        <p:spPr>
          <a:xfrm>
            <a:off x="815975" y="4221758"/>
            <a:ext cx="6572250" cy="791071"/>
          </a:xfrm>
          <a:prstGeom prst="roundRect">
            <a:avLst>
              <a:gd name="adj" fmla="val 7626"/>
            </a:avLst>
          </a:prstGeom>
          <a:solidFill>
            <a:srgbClr val="E1EFF2"/>
          </a:solidFill>
          <a:ln w="6350">
            <a:solidFill>
              <a:srgbClr val="9CCBD5"/>
            </a:solidFill>
            <a:prstDash val="solid"/>
          </a:ln>
        </p:spPr>
      </p:sp>
      <p:sp>
        <p:nvSpPr>
          <p:cNvPr id="13" name="Text 9"/>
          <p:cNvSpPr/>
          <p:nvPr/>
        </p:nvSpPr>
        <p:spPr>
          <a:xfrm>
            <a:off x="996950" y="4364633"/>
            <a:ext cx="6396609"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Credit Change topic</a:t>
            </a:r>
            <a:endParaRPr lang="en-US" sz="1400" dirty="0"/>
          </a:p>
        </p:txBody>
      </p:sp>
      <p:sp>
        <p:nvSpPr>
          <p:cNvPr id="14" name="Text 10"/>
          <p:cNvSpPr/>
          <p:nvPr/>
        </p:nvSpPr>
        <p:spPr>
          <a:xfrm>
            <a:off x="996950" y="4638873"/>
            <a:ext cx="639660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Kafka’s partition and offset recorded on the note</a:t>
            </a:r>
            <a:endParaRPr lang="en-US" sz="1300" dirty="0"/>
          </a:p>
        </p:txBody>
      </p:sp>
      <p:sp>
        <p:nvSpPr>
          <p:cNvPr id="15" name="Text 11"/>
          <p:cNvSpPr/>
          <p:nvPr/>
        </p:nvSpPr>
        <p:spPr>
          <a:xfrm>
            <a:off x="812800" y="5092204"/>
            <a:ext cx="6578600" cy="391120"/>
          </a:xfrm>
          <a:prstGeom prst="roundRect">
            <a:avLst>
              <a:gd name="adj" fmla="val 12988"/>
            </a:avLst>
          </a:prstGeom>
          <a:solidFill>
            <a:srgbClr val="E6ECEF"/>
          </a:solidFill>
          <a:ln/>
        </p:spPr>
        <p:txBody>
          <a:bodyPr wrap="square" lIns="112121" tIns="74021" rIns="0" bIns="48621" rtlCol="0" anchor="t">
            <a:normAutofit/>
          </a:bodyPr>
          <a:lstStyle/>
          <a:p>
            <a:pPr marL="0" indent="0" algn="l">
              <a:lnSpc>
                <a:spcPts val="1680"/>
              </a:lnSpc>
              <a:buNone/>
            </a:pPr>
            <a:r>
              <a:rPr lang="en-US" sz="1200" dirty="0">
                <a:solidFill>
                  <a:srgbClr val="14212B"/>
                </a:solidFill>
                <a:latin typeface="JetBrains Mono" pitchFamily="49" charset="0"/>
                <a:ea typeface="JetBrains Mono" pitchFamily="49" charset="-122"/>
                <a:cs typeface="JetBrains Mono" pitchFamily="49" charset="-120"/>
              </a:rPr>
              <a:t>outbox 774120 → SENT · partition 7 · offset 1,938,822</a:t>
            </a:r>
            <a:endParaRPr lang="en-US" sz="1200" dirty="0"/>
          </a:p>
        </p:txBody>
      </p:sp>
      <p:sp>
        <p:nvSpPr>
          <p:cNvPr id="16" name="Shape 12"/>
          <p:cNvSpPr/>
          <p:nvPr/>
        </p:nvSpPr>
        <p:spPr>
          <a:xfrm>
            <a:off x="7699375" y="1877616"/>
            <a:ext cx="3676650" cy="3602534"/>
          </a:xfrm>
          <a:prstGeom prst="roundRect">
            <a:avLst>
              <a:gd name="adj" fmla="val 2027"/>
            </a:avLst>
          </a:prstGeom>
          <a:solidFill>
            <a:srgbClr val="FBFCFC"/>
          </a:solidFill>
          <a:ln w="6350">
            <a:solidFill>
              <a:srgbClr val="D3DBE0"/>
            </a:solidFill>
            <a:prstDash val="solid"/>
          </a:ln>
        </p:spPr>
      </p:sp>
      <p:sp>
        <p:nvSpPr>
          <p:cNvPr id="17" name="Text 13"/>
          <p:cNvSpPr/>
          <p:nvPr/>
        </p:nvSpPr>
        <p:spPr>
          <a:xfrm>
            <a:off x="7905750" y="2094111"/>
            <a:ext cx="1509713"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2B"/>
                </a:solidFill>
                <a:latin typeface="IBM Plex Sans" pitchFamily="34" charset="0"/>
                <a:ea typeface="IBM Plex Sans" pitchFamily="34" charset="-122"/>
                <a:cs typeface="IBM Plex Sans" pitchFamily="34" charset="-120"/>
              </a:rPr>
              <a:t>Does it matter?</a:t>
            </a:r>
            <a:endParaRPr lang="en-US" sz="1600" dirty="0"/>
          </a:p>
        </p:txBody>
      </p:sp>
      <p:sp>
        <p:nvSpPr>
          <p:cNvPr id="18" name="Text 14"/>
          <p:cNvSpPr/>
          <p:nvPr/>
        </p:nvSpPr>
        <p:spPr>
          <a:xfrm>
            <a:off x="9415463" y="2083991"/>
            <a:ext cx="662781" cy="264120"/>
          </a:xfrm>
          <a:custGeom>
            <a:avLst/>
            <a:gdLst/>
            <a:ahLst/>
            <a:cxnLst/>
            <a:rect l="l" t="t" r="r" b="b"/>
            <a:pathLst>
              <a:path w="662781" h="264120">
                <a:moveTo>
                  <a:pt x="132060" y="0"/>
                </a:moveTo>
                <a:lnTo>
                  <a:pt x="530721" y="0"/>
                </a:lnTo>
                <a:arcTo wR="132060" hR="132060" stAng="16200000" swAng="5400000"/>
                <a:lnTo>
                  <a:pt x="662781" y="132060"/>
                </a:lnTo>
                <a:arcTo wR="132060" hR="132060" stAng="0" swAng="5400000"/>
                <a:lnTo>
                  <a:pt x="132060" y="264120"/>
                </a:lnTo>
                <a:arcTo wR="132060" hR="132060" stAng="5400000" swAng="5400000"/>
                <a:lnTo>
                  <a:pt x="0" y="132060"/>
                </a:lnTo>
                <a:arcTo wR="132060" hR="132060" stAng="10800000" swAng="5400000"/>
                <a:close/>
              </a:path>
            </a:pathLst>
          </a:custGeom>
          <a:solidFill>
            <a:srgbClr val="F6E9DF"/>
          </a:solidFill>
          <a:ln/>
        </p:spPr>
        <p:txBody>
          <a:bodyPr wrap="none" lIns="0" tIns="0" rIns="0" bIns="0" rtlCol="0" anchor="ctr">
            <a:normAutofit/>
          </a:bodyPr>
          <a:lstStyle/>
          <a:p>
            <a:pPr marL="0" indent="0" algn="ctr">
              <a:lnSpc>
                <a:spcPts val="1680"/>
              </a:lnSpc>
              <a:buNone/>
            </a:pPr>
            <a:r>
              <a:rPr lang="en-US" sz="1200" b="1" dirty="0">
                <a:solidFill>
                  <a:srgbClr val="B4561A"/>
                </a:solidFill>
                <a:latin typeface="IBM Plex Sans" pitchFamily="34" charset="0"/>
                <a:ea typeface="IBM Plex Sans" pitchFamily="34" charset="-122"/>
                <a:cs typeface="IBM Plex Sans" pitchFamily="34" charset="-120"/>
              </a:rPr>
              <a:t>DRAFT</a:t>
            </a:r>
            <a:endParaRPr lang="en-US" sz="1200" dirty="0"/>
          </a:p>
        </p:txBody>
      </p:sp>
      <p:sp>
        <p:nvSpPr>
          <p:cNvPr id="19" name="Text 15"/>
          <p:cNvSpPr/>
          <p:nvPr/>
        </p:nvSpPr>
        <p:spPr>
          <a:xfrm>
            <a:off x="7991094" y="2449711"/>
            <a:ext cx="3268853"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New or deleted account</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Over its limit, or back under</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Limit changes</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Crosses 90% utilisation</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Forbearance or status changes</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Collateral or customer link changes</a:t>
            </a:r>
            <a:endParaRPr lang="en-US" sz="1300" dirty="0"/>
          </a:p>
        </p:txBody>
      </p:sp>
      <p:sp>
        <p:nvSpPr>
          <p:cNvPr id="20" name="Text 16"/>
          <p:cNvSpPr/>
          <p:nvPr/>
        </p:nvSpPr>
        <p:spPr>
          <a:xfrm>
            <a:off x="7905750" y="4037211"/>
            <a:ext cx="3361817"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B5B67"/>
                </a:solidFill>
                <a:latin typeface="IBM Plex Sans" pitchFamily="34" charset="0"/>
                <a:ea typeface="IBM Plex Sans" pitchFamily="34" charset="-122"/>
                <a:cs typeface="IBM Plex Sans" pitchFamily="34" charset="-120"/>
              </a:rPr>
              <a:t>Small balance moves are saved but not announced: about 99 in 100.</a:t>
            </a:r>
            <a:endParaRPr lang="en-US" sz="1300" dirty="0"/>
          </a:p>
        </p:txBody>
      </p:sp>
      <p:sp>
        <p:nvSpPr>
          <p:cNvPr id="21" name="Text 17"/>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 · Example values</a:t>
            </a:r>
            <a:endParaRPr lang="en-US" sz="1200" dirty="0"/>
          </a:p>
        </p:txBody>
      </p:sp>
      <p:sp>
        <p:nvSpPr>
          <p:cNvPr id="22" name="Text 1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7 · TRACEABILITY</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One trace id from source to CLM</a:t>
            </a:r>
            <a:endParaRPr lang="en-US" sz="3200" dirty="0"/>
          </a:p>
        </p:txBody>
      </p:sp>
      <p:sp>
        <p:nvSpPr>
          <p:cNvPr id="4" name="Shape 2"/>
          <p:cNvSpPr/>
          <p:nvPr/>
        </p:nvSpPr>
        <p:spPr>
          <a:xfrm>
            <a:off x="815975" y="1965226"/>
            <a:ext cx="1799530" cy="742851"/>
          </a:xfrm>
          <a:prstGeom prst="roundRect">
            <a:avLst>
              <a:gd name="adj" fmla="val 8121"/>
            </a:avLst>
          </a:prstGeom>
          <a:solidFill>
            <a:srgbClr val="FBFCFC"/>
          </a:solidFill>
          <a:ln w="6350">
            <a:solidFill>
              <a:srgbClr val="D3DBE0"/>
            </a:solidFill>
            <a:prstDash val="solid"/>
          </a:ln>
        </p:spPr>
      </p:sp>
      <p:sp>
        <p:nvSpPr>
          <p:cNvPr id="5" name="Text 3"/>
          <p:cNvSpPr/>
          <p:nvPr/>
        </p:nvSpPr>
        <p:spPr>
          <a:xfrm>
            <a:off x="946150" y="2095401"/>
            <a:ext cx="15899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Source event</a:t>
            </a:r>
            <a:endParaRPr lang="en-US" sz="1300" dirty="0"/>
          </a:p>
        </p:txBody>
      </p:sp>
      <p:sp>
        <p:nvSpPr>
          <p:cNvPr id="6" name="Text 4"/>
          <p:cNvSpPr/>
          <p:nvPr/>
        </p:nvSpPr>
        <p:spPr>
          <a:xfrm>
            <a:off x="946150" y="2364581"/>
            <a:ext cx="15899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B67"/>
                </a:solidFill>
                <a:latin typeface="IBM Plex Sans" pitchFamily="34" charset="0"/>
                <a:ea typeface="IBM Plex Sans" pitchFamily="34" charset="-122"/>
                <a:cs typeface="IBM Plex Sans" pitchFamily="34" charset="-120"/>
              </a:rPr>
              <a:t>eventId, traceparent</a:t>
            </a:r>
            <a:endParaRPr lang="en-US" sz="1200" dirty="0"/>
          </a:p>
        </p:txBody>
      </p:sp>
      <p:pic>
        <p:nvPicPr>
          <p:cNvPr id="7" name="Image 0" descr="arrow-right"/>
          <p:cNvPicPr>
            <a:picLocks noChangeAspect="1"/>
          </p:cNvPicPr>
          <p:nvPr/>
        </p:nvPicPr>
        <p:blipFill>
          <a:blip r:embed="rId3"/>
          <a:srcRect/>
          <a:stretch/>
        </p:blipFill>
        <p:spPr>
          <a:xfrm>
            <a:off x="2694880" y="2266752"/>
            <a:ext cx="228600" cy="139700"/>
          </a:xfrm>
          <a:prstGeom prst="rect">
            <a:avLst/>
          </a:prstGeom>
        </p:spPr>
      </p:pic>
      <p:sp>
        <p:nvSpPr>
          <p:cNvPr id="8" name="Shape 5"/>
          <p:cNvSpPr/>
          <p:nvPr/>
        </p:nvSpPr>
        <p:spPr>
          <a:xfrm>
            <a:off x="3002855" y="1965226"/>
            <a:ext cx="1799630" cy="742851"/>
          </a:xfrm>
          <a:prstGeom prst="roundRect">
            <a:avLst>
              <a:gd name="adj" fmla="val 8121"/>
            </a:avLst>
          </a:prstGeom>
          <a:solidFill>
            <a:srgbClr val="FBFCFC"/>
          </a:solidFill>
          <a:ln w="6350">
            <a:solidFill>
              <a:srgbClr val="D3DBE0"/>
            </a:solidFill>
            <a:prstDash val="solid"/>
          </a:ln>
        </p:spPr>
      </p:sp>
      <p:sp>
        <p:nvSpPr>
          <p:cNvPr id="9" name="Text 6"/>
          <p:cNvSpPr/>
          <p:nvPr/>
        </p:nvSpPr>
        <p:spPr>
          <a:xfrm>
            <a:off x="3133030" y="2095401"/>
            <a:ext cx="15900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Ledger line</a:t>
            </a:r>
            <a:endParaRPr lang="en-US" sz="1300" dirty="0"/>
          </a:p>
        </p:txBody>
      </p:sp>
      <p:sp>
        <p:nvSpPr>
          <p:cNvPr id="10" name="Text 7"/>
          <p:cNvSpPr/>
          <p:nvPr/>
        </p:nvSpPr>
        <p:spPr>
          <a:xfrm>
            <a:off x="3133030" y="2364581"/>
            <a:ext cx="15900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B67"/>
                </a:solidFill>
                <a:latin typeface="IBM Plex Sans" pitchFamily="34" charset="0"/>
                <a:ea typeface="IBM Plex Sans" pitchFamily="34" charset="-122"/>
                <a:cs typeface="IBM Plex Sans" pitchFamily="34" charset="-120"/>
              </a:rPr>
              <a:t>offset, SHA-256</a:t>
            </a:r>
            <a:endParaRPr lang="en-US" sz="1200" dirty="0"/>
          </a:p>
        </p:txBody>
      </p:sp>
      <p:pic>
        <p:nvPicPr>
          <p:cNvPr id="11" name="Image 1" descr="arrow-right"/>
          <p:cNvPicPr>
            <a:picLocks noChangeAspect="1"/>
          </p:cNvPicPr>
          <p:nvPr/>
        </p:nvPicPr>
        <p:blipFill>
          <a:blip r:embed="rId3"/>
          <a:srcRect/>
          <a:stretch/>
        </p:blipFill>
        <p:spPr>
          <a:xfrm>
            <a:off x="4881860" y="2266752"/>
            <a:ext cx="228600" cy="139700"/>
          </a:xfrm>
          <a:prstGeom prst="rect">
            <a:avLst/>
          </a:prstGeom>
        </p:spPr>
      </p:pic>
      <p:sp>
        <p:nvSpPr>
          <p:cNvPr id="12" name="Shape 8"/>
          <p:cNvSpPr/>
          <p:nvPr/>
        </p:nvSpPr>
        <p:spPr>
          <a:xfrm>
            <a:off x="5193010" y="1855391"/>
            <a:ext cx="1805880" cy="962521"/>
          </a:xfrm>
          <a:prstGeom prst="roundRect">
            <a:avLst>
              <a:gd name="adj" fmla="val 5938"/>
            </a:avLst>
          </a:prstGeom>
          <a:solidFill>
            <a:srgbClr val="FBFCFC"/>
          </a:solidFill>
          <a:ln w="12700">
            <a:solidFill>
              <a:srgbClr val="B4561A"/>
            </a:solidFill>
            <a:prstDash val="dash"/>
          </a:ln>
        </p:spPr>
      </p:sp>
      <p:sp>
        <p:nvSpPr>
          <p:cNvPr id="13" name="Text 9"/>
          <p:cNvSpPr/>
          <p:nvPr/>
        </p:nvSpPr>
        <p:spPr>
          <a:xfrm>
            <a:off x="5326360" y="1988741"/>
            <a:ext cx="15899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Failure tray</a:t>
            </a:r>
            <a:endParaRPr lang="en-US" sz="1300" dirty="0"/>
          </a:p>
        </p:txBody>
      </p:sp>
      <p:sp>
        <p:nvSpPr>
          <p:cNvPr id="14" name="Text 10"/>
          <p:cNvSpPr/>
          <p:nvPr/>
        </p:nvSpPr>
        <p:spPr>
          <a:xfrm>
            <a:off x="5326360" y="2257921"/>
            <a:ext cx="158998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B67"/>
                </a:solidFill>
                <a:latin typeface="IBM Plex Sans" pitchFamily="34" charset="0"/>
                <a:ea typeface="IBM Plex Sans" pitchFamily="34" charset="-122"/>
                <a:cs typeface="IBM Plex Sans" pitchFamily="34" charset="-120"/>
              </a:rPr>
              <a:t>if it failed: every attempt</a:t>
            </a:r>
            <a:endParaRPr lang="en-US" sz="1200" dirty="0"/>
          </a:p>
        </p:txBody>
      </p:sp>
      <p:pic>
        <p:nvPicPr>
          <p:cNvPr id="15" name="Image 2" descr="arrow-right"/>
          <p:cNvPicPr>
            <a:picLocks noChangeAspect="1"/>
          </p:cNvPicPr>
          <p:nvPr/>
        </p:nvPicPr>
        <p:blipFill>
          <a:blip r:embed="rId3"/>
          <a:srcRect/>
          <a:stretch/>
        </p:blipFill>
        <p:spPr>
          <a:xfrm>
            <a:off x="7081441" y="2266752"/>
            <a:ext cx="228600" cy="139700"/>
          </a:xfrm>
          <a:prstGeom prst="rect">
            <a:avLst/>
          </a:prstGeom>
        </p:spPr>
      </p:pic>
      <p:sp>
        <p:nvSpPr>
          <p:cNvPr id="16" name="Shape 11"/>
          <p:cNvSpPr/>
          <p:nvPr/>
        </p:nvSpPr>
        <p:spPr>
          <a:xfrm>
            <a:off x="7389416" y="1965226"/>
            <a:ext cx="1799630" cy="742851"/>
          </a:xfrm>
          <a:prstGeom prst="roundRect">
            <a:avLst>
              <a:gd name="adj" fmla="val 8121"/>
            </a:avLst>
          </a:prstGeom>
          <a:solidFill>
            <a:srgbClr val="FBFCFC"/>
          </a:solidFill>
          <a:ln w="6350">
            <a:solidFill>
              <a:srgbClr val="D3DBE0"/>
            </a:solidFill>
            <a:prstDash val="solid"/>
          </a:ln>
        </p:spPr>
      </p:sp>
      <p:sp>
        <p:nvSpPr>
          <p:cNvPr id="17" name="Text 12"/>
          <p:cNvSpPr/>
          <p:nvPr/>
        </p:nvSpPr>
        <p:spPr>
          <a:xfrm>
            <a:off x="7519591" y="2095401"/>
            <a:ext cx="15900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Outbox note</a:t>
            </a:r>
            <a:endParaRPr lang="en-US" sz="1300" dirty="0"/>
          </a:p>
        </p:txBody>
      </p:sp>
      <p:sp>
        <p:nvSpPr>
          <p:cNvPr id="18" name="Text 13"/>
          <p:cNvSpPr/>
          <p:nvPr/>
        </p:nvSpPr>
        <p:spPr>
          <a:xfrm>
            <a:off x="7519591" y="2364581"/>
            <a:ext cx="16662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B67"/>
                </a:solidFill>
                <a:latin typeface="IBM Plex Sans" pitchFamily="34" charset="0"/>
                <a:ea typeface="IBM Plex Sans" pitchFamily="34" charset="-122"/>
                <a:cs typeface="IBM Plex Sans" pitchFamily="34" charset="-120"/>
              </a:rPr>
              <a:t>why it was announced</a:t>
            </a:r>
            <a:endParaRPr lang="en-US" sz="1200" dirty="0"/>
          </a:p>
        </p:txBody>
      </p:sp>
      <p:pic>
        <p:nvPicPr>
          <p:cNvPr id="19" name="Image 3" descr="arrow-right"/>
          <p:cNvPicPr>
            <a:picLocks noChangeAspect="1"/>
          </p:cNvPicPr>
          <p:nvPr/>
        </p:nvPicPr>
        <p:blipFill>
          <a:blip r:embed="rId3"/>
          <a:srcRect/>
          <a:stretch/>
        </p:blipFill>
        <p:spPr>
          <a:xfrm>
            <a:off x="9268420" y="2266752"/>
            <a:ext cx="228600" cy="139700"/>
          </a:xfrm>
          <a:prstGeom prst="rect">
            <a:avLst/>
          </a:prstGeom>
        </p:spPr>
      </p:pic>
      <p:sp>
        <p:nvSpPr>
          <p:cNvPr id="20" name="Shape 14"/>
          <p:cNvSpPr/>
          <p:nvPr/>
        </p:nvSpPr>
        <p:spPr>
          <a:xfrm>
            <a:off x="9576395" y="1965226"/>
            <a:ext cx="1799630" cy="742851"/>
          </a:xfrm>
          <a:prstGeom prst="roundRect">
            <a:avLst>
              <a:gd name="adj" fmla="val 8121"/>
            </a:avLst>
          </a:prstGeom>
          <a:solidFill>
            <a:srgbClr val="E1EFF2"/>
          </a:solidFill>
          <a:ln w="6350">
            <a:solidFill>
              <a:srgbClr val="9CCBD5"/>
            </a:solidFill>
            <a:prstDash val="solid"/>
          </a:ln>
        </p:spPr>
      </p:sp>
      <p:sp>
        <p:nvSpPr>
          <p:cNvPr id="21" name="Text 15"/>
          <p:cNvSpPr/>
          <p:nvPr/>
        </p:nvSpPr>
        <p:spPr>
          <a:xfrm>
            <a:off x="9706570" y="2095401"/>
            <a:ext cx="159008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2B"/>
                </a:solidFill>
                <a:latin typeface="IBM Plex Sans" pitchFamily="34" charset="0"/>
                <a:ea typeface="IBM Plex Sans" pitchFamily="34" charset="-122"/>
                <a:cs typeface="IBM Plex Sans" pitchFamily="34" charset="-120"/>
              </a:rPr>
              <a:t>Credit Change</a:t>
            </a:r>
            <a:endParaRPr lang="en-US" sz="1300" dirty="0"/>
          </a:p>
        </p:txBody>
      </p:sp>
      <p:sp>
        <p:nvSpPr>
          <p:cNvPr id="22" name="Text 16"/>
          <p:cNvSpPr/>
          <p:nvPr/>
        </p:nvSpPr>
        <p:spPr>
          <a:xfrm>
            <a:off x="9706570" y="2364581"/>
            <a:ext cx="159008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B5B67"/>
                </a:solidFill>
                <a:latin typeface="IBM Plex Sans" pitchFamily="34" charset="0"/>
                <a:ea typeface="IBM Plex Sans" pitchFamily="34" charset="-122"/>
                <a:cs typeface="IBM Plex Sans" pitchFamily="34" charset="-120"/>
              </a:rPr>
              <a:t>partition, offset</a:t>
            </a:r>
            <a:endParaRPr lang="en-US" sz="1200" dirty="0"/>
          </a:p>
        </p:txBody>
      </p:sp>
      <p:sp>
        <p:nvSpPr>
          <p:cNvPr id="23" name="Text 17"/>
          <p:cNvSpPr/>
          <p:nvPr/>
        </p:nvSpPr>
        <p:spPr>
          <a:xfrm>
            <a:off x="812800" y="2925862"/>
            <a:ext cx="10566400" cy="383480"/>
          </a:xfrm>
          <a:prstGeom prst="roundRect">
            <a:avLst>
              <a:gd name="adj" fmla="val 13247"/>
            </a:avLst>
          </a:prstGeom>
          <a:solidFill>
            <a:srgbClr val="0D6A7E"/>
          </a:solidFill>
          <a:ln/>
        </p:spPr>
        <p:txBody>
          <a:bodyPr wrap="square" lIns="137521" tIns="61321" rIns="0" bIns="35921" rtlCol="0" anchor="t">
            <a:normAutofit/>
          </a:bodyPr>
          <a:lstStyle/>
          <a:p>
            <a:pPr marL="0" indent="0" algn="l">
              <a:lnSpc>
                <a:spcPts val="1820"/>
              </a:lnSpc>
              <a:buNone/>
            </a:pPr>
            <a:r>
              <a:rPr lang="en-US" sz="1300" dirty="0">
                <a:solidFill>
                  <a:srgbClr val="EEF3F5"/>
                </a:solidFill>
                <a:latin typeface="JetBrains Mono" pitchFamily="49" charset="0"/>
                <a:ea typeface="JetBrains Mono" pitchFamily="49" charset="-122"/>
                <a:cs typeface="JetBrains Mono" pitchFamily="49" charset="-120"/>
              </a:rPr>
              <a:t>traceId 4bf92f3577b34da6a3ce929d0e0e4736 carried at every step</a:t>
            </a:r>
            <a:endParaRPr lang="en-US" sz="1300" dirty="0"/>
          </a:p>
        </p:txBody>
      </p:sp>
      <p:sp>
        <p:nvSpPr>
          <p:cNvPr id="24" name="Shape 18"/>
          <p:cNvSpPr/>
          <p:nvPr/>
        </p:nvSpPr>
        <p:spPr>
          <a:xfrm>
            <a:off x="815975" y="3566517"/>
            <a:ext cx="4581624" cy="1700312"/>
          </a:xfrm>
          <a:prstGeom prst="roundRect">
            <a:avLst>
              <a:gd name="adj" fmla="val 4295"/>
            </a:avLst>
          </a:prstGeom>
          <a:solidFill>
            <a:srgbClr val="FBFCFC"/>
          </a:solidFill>
          <a:ln w="6350">
            <a:solidFill>
              <a:srgbClr val="D3DBE0"/>
            </a:solidFill>
            <a:prstDash val="solid"/>
          </a:ln>
        </p:spPr>
      </p:sp>
      <p:sp>
        <p:nvSpPr>
          <p:cNvPr id="25" name="Text 19"/>
          <p:cNvSpPr/>
          <p:nvPr/>
        </p:nvSpPr>
        <p:spPr>
          <a:xfrm>
            <a:off x="1022350" y="3772892"/>
            <a:ext cx="4293940"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2B"/>
                </a:solidFill>
                <a:latin typeface="IBM Plex Sans" pitchFamily="34" charset="0"/>
                <a:ea typeface="IBM Plex Sans" pitchFamily="34" charset="-122"/>
                <a:cs typeface="IBM Plex Sans" pitchFamily="34" charset="-120"/>
              </a:rPr>
              <a:t>Ops console</a:t>
            </a:r>
            <a:endParaRPr lang="en-US" sz="1600" dirty="0"/>
          </a:p>
        </p:txBody>
      </p:sp>
      <p:sp>
        <p:nvSpPr>
          <p:cNvPr id="26" name="Text 20"/>
          <p:cNvSpPr/>
          <p:nvPr/>
        </p:nvSpPr>
        <p:spPr>
          <a:xfrm>
            <a:off x="1022350" y="4092873"/>
            <a:ext cx="4293940"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4B5B67"/>
                </a:solidFill>
                <a:latin typeface="IBM Plex Sans" pitchFamily="34" charset="0"/>
                <a:ea typeface="IBM Plex Sans" pitchFamily="34" charset="-122"/>
                <a:cs typeface="IBM Plex Sans" pitchFamily="34" charset="-120"/>
              </a:rPr>
              <a:t>Search by eventId, trace id, account key or topic/partition@offset, and see the whole trail on one timeline.</a:t>
            </a:r>
            <a:endParaRPr lang="en-US" sz="1300" dirty="0"/>
          </a:p>
        </p:txBody>
      </p:sp>
      <p:sp>
        <p:nvSpPr>
          <p:cNvPr id="27" name="Shape 21"/>
          <p:cNvSpPr/>
          <p:nvPr/>
        </p:nvSpPr>
        <p:spPr>
          <a:xfrm>
            <a:off x="5553174" y="3563342"/>
            <a:ext cx="5826026" cy="1706662"/>
          </a:xfrm>
          <a:prstGeom prst="roundRect">
            <a:avLst>
              <a:gd name="adj" fmla="val 4465"/>
            </a:avLst>
          </a:prstGeom>
          <a:solidFill>
            <a:srgbClr val="10202A"/>
          </a:solidFill>
          <a:ln/>
        </p:spPr>
      </p:sp>
      <p:sp>
        <p:nvSpPr>
          <p:cNvPr id="28" name="Text 22"/>
          <p:cNvSpPr/>
          <p:nvPr/>
        </p:nvSpPr>
        <p:spPr>
          <a:xfrm>
            <a:off x="5756374" y="3766542"/>
            <a:ext cx="5582215" cy="26918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EF3F5"/>
                </a:solidFill>
                <a:latin typeface="IBM Plex Sans" pitchFamily="34" charset="0"/>
                <a:ea typeface="IBM Plex Sans" pitchFamily="34" charset="-122"/>
                <a:cs typeface="IBM Plex Sans" pitchFamily="34" charset="-120"/>
              </a:rPr>
              <a:t>Splunk</a:t>
            </a:r>
            <a:endParaRPr lang="en-US" sz="1600" dirty="0"/>
          </a:p>
        </p:txBody>
      </p:sp>
      <p:sp>
        <p:nvSpPr>
          <p:cNvPr id="29" name="Text 23"/>
          <p:cNvSpPr/>
          <p:nvPr/>
        </p:nvSpPr>
        <p:spPr>
          <a:xfrm>
            <a:off x="5756374" y="4086523"/>
            <a:ext cx="5582215"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C0D3"/>
                </a:solidFill>
                <a:latin typeface="JetBrains Mono" pitchFamily="49" charset="0"/>
                <a:ea typeface="JetBrains Mono" pitchFamily="49" charset="-122"/>
                <a:cs typeface="JetBrains Mono" pitchFamily="49" charset="-120"/>
              </a:rPr>
              <a:t>index=ioc type=consumer.summary | timechart sum(consumed) sum(failed) by consumer</a:t>
            </a:r>
            <a:endParaRPr lang="en-US" sz="1200" dirty="0"/>
          </a:p>
        </p:txBody>
      </p:sp>
      <p:sp>
        <p:nvSpPr>
          <p:cNvPr id="30" name="Text 24"/>
          <p:cNvSpPr/>
          <p:nvPr/>
        </p:nvSpPr>
        <p:spPr>
          <a:xfrm>
            <a:off x="5756374" y="4604643"/>
            <a:ext cx="5582215"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A9BAC3"/>
                </a:solidFill>
                <a:latin typeface="IBM Plex Sans" pitchFamily="34" charset="0"/>
                <a:ea typeface="IBM Plex Sans" pitchFamily="34" charset="-122"/>
                <a:cs typeface="IBM Plex Sans" pitchFamily="34" charset="-120"/>
              </a:rPr>
              <a:t>One summary line per consumer per minute, plus one line per failure, replay or ops action.</a:t>
            </a:r>
            <a:endParaRPr lang="en-US" sz="1300" dirty="0"/>
          </a:p>
        </p:txBody>
      </p:sp>
      <p:sp>
        <p:nvSpPr>
          <p:cNvPr id="31" name="Text 2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 · Example trace id</a:t>
            </a:r>
            <a:endParaRPr lang="en-US" sz="1200" dirty="0"/>
          </a:p>
        </p:txBody>
      </p:sp>
      <p:sp>
        <p:nvSpPr>
          <p:cNvPr id="32" name="Text 2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6A7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D7EEF2"/>
                </a:solidFill>
                <a:latin typeface="IBM Plex Sans" pitchFamily="34" charset="0"/>
                <a:ea typeface="IBM Plex Sans" pitchFamily="34" charset="-122"/>
                <a:cs typeface="IBM Plex Sans" pitchFamily="34" charset="-120"/>
              </a:rPr>
              <a:t>PART 3</a:t>
            </a:r>
            <a:endParaRPr lang="en-US" sz="1400" dirty="0"/>
          </a:p>
        </p:txBody>
      </p:sp>
      <p:sp>
        <p:nvSpPr>
          <p:cNvPr id="3" name="Text 1"/>
          <p:cNvSpPr>
            <a:spLocks noGrp="1"/>
          </p:cNvSpPr>
          <p:nvPr>
            <p:ph type="title"/>
          </p:nvPr>
        </p:nvSpPr>
        <p:spPr>
          <a:xfrm>
            <a:off x="812800" y="4338439"/>
            <a:ext cx="6697472" cy="914400"/>
          </a:xfrm>
          <a:prstGeom prst="rect">
            <a:avLst/>
          </a:prstGeom>
          <a:noFill/>
          <a:ln/>
        </p:spPr>
        <p:txBody>
          <a:bodyPr wrap="square" lIns="0" tIns="0" rIns="0" bIns="0" rtlCol="0" anchor="t">
            <a:normAutofit/>
          </a:bodyPr>
          <a:lstStyle/>
          <a:p>
            <a:pPr marL="0" indent="0" algn="l">
              <a:lnSpc>
                <a:spcPts val="7000"/>
              </a:lnSpc>
              <a:buNone/>
            </a:pPr>
            <a:r>
              <a:rPr lang="en-US" sz="7000" b="1" i="0" kern="0" spc="-150" dirty="0">
                <a:solidFill>
                  <a:srgbClr val="F3F5F6"/>
                </a:solidFill>
                <a:latin typeface="IBM Plex Sans" pitchFamily="34" charset="0"/>
                <a:ea typeface="IBM Plex Sans" pitchFamily="34" charset="-122"/>
                <a:cs typeface="IBM Plex Sans" pitchFamily="34" charset="-120"/>
              </a:rPr>
              <a:t>Live demo</a:t>
            </a:r>
            <a:endParaRPr lang="en-US" sz="7000" dirty="0"/>
          </a:p>
        </p:txBody>
      </p:sp>
      <p:sp>
        <p:nvSpPr>
          <p:cNvPr id="4" name="Text 2"/>
          <p:cNvSpPr/>
          <p:nvPr/>
        </p:nvSpPr>
        <p:spPr>
          <a:xfrm>
            <a:off x="812800" y="5405239"/>
            <a:ext cx="6697472" cy="665361"/>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E1EFF2"/>
                </a:solidFill>
                <a:latin typeface="IBM Plex Sans" pitchFamily="34" charset="0"/>
                <a:ea typeface="IBM Plex Sans" pitchFamily="34" charset="-122"/>
                <a:cs typeface="IBM Plex Sans" pitchFamily="34" charset="-120"/>
              </a:rPr>
              <a:t>Kafka, Schema Registry and SQL Server running in Docker. The console is part of the app, at localhost:8080/ops.</a:t>
            </a:r>
            <a:endParaRPr lang="en-US" sz="1800" dirty="0"/>
          </a:p>
        </p:txBody>
      </p:sp>
      <p:sp>
        <p:nvSpPr>
          <p:cNvPr id="5" name="Text 3"/>
          <p:cNvSpPr/>
          <p:nvPr/>
        </p:nvSpPr>
        <p:spPr>
          <a:xfrm>
            <a:off x="7823200" y="3769717"/>
            <a:ext cx="366268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D7EEF2"/>
                </a:solidFill>
                <a:latin typeface="IBM Plex Sans" pitchFamily="34" charset="0"/>
                <a:ea typeface="IBM Plex Sans" pitchFamily="34" charset="-122"/>
                <a:cs typeface="IBM Plex Sans" pitchFamily="34" charset="-120"/>
              </a:rPr>
              <a:t>WHO CAN DO WHAT</a:t>
            </a:r>
            <a:endParaRPr lang="en-US" sz="1200" dirty="0"/>
          </a:p>
        </p:txBody>
      </p:sp>
      <p:sp>
        <p:nvSpPr>
          <p:cNvPr id="6" name="Text 4"/>
          <p:cNvSpPr/>
          <p:nvPr/>
        </p:nvSpPr>
        <p:spPr>
          <a:xfrm>
            <a:off x="7823200" y="4071938"/>
            <a:ext cx="3556000" cy="426641"/>
          </a:xfrm>
          <a:prstGeom prst="roundRect">
            <a:avLst>
              <a:gd name="adj" fmla="val 11907"/>
            </a:avLst>
          </a:prstGeom>
          <a:solidFill>
            <a:srgbClr val="E1EFF2"/>
          </a:solidFill>
          <a:ln/>
        </p:spPr>
        <p:txBody>
          <a:bodyPr wrap="square" lIns="124821" tIns="74021" rIns="26523" bIns="48621"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viewer</a:t>
            </a:r>
            <a:r>
              <a:rPr lang="en-US" sz="1400" dirty="0">
                <a:solidFill>
                  <a:srgbClr val="14212B"/>
                </a:solidFill>
                <a:latin typeface="IBM Plex Sans" pitchFamily="34" charset="0"/>
                <a:ea typeface="IBM Plex Sans" pitchFamily="34" charset="-122"/>
                <a:cs typeface="IBM Plex Sans" pitchFamily="34" charset="-120"/>
              </a:rPr>
              <a:t> · read only, no payloads</a:t>
            </a:r>
            <a:endParaRPr lang="en-US" sz="1400" dirty="0"/>
          </a:p>
        </p:txBody>
      </p:sp>
      <p:sp>
        <p:nvSpPr>
          <p:cNvPr id="7" name="Text 5"/>
          <p:cNvSpPr/>
          <p:nvPr/>
        </p:nvSpPr>
        <p:spPr>
          <a:xfrm>
            <a:off x="7823200" y="4587478"/>
            <a:ext cx="3556000" cy="426641"/>
          </a:xfrm>
          <a:prstGeom prst="roundRect">
            <a:avLst>
              <a:gd name="adj" fmla="val 11907"/>
            </a:avLst>
          </a:prstGeom>
          <a:solidFill>
            <a:srgbClr val="E1EFF2"/>
          </a:solidFill>
          <a:ln/>
        </p:spPr>
        <p:txBody>
          <a:bodyPr wrap="square" lIns="124821" tIns="74021" rIns="26523" bIns="48621"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alice</a:t>
            </a:r>
            <a:r>
              <a:rPr lang="en-US" sz="1400" dirty="0">
                <a:solidFill>
                  <a:srgbClr val="14212B"/>
                </a:solidFill>
                <a:latin typeface="IBM Plex Sans" pitchFamily="34" charset="0"/>
                <a:ea typeface="IBM Plex Sans" pitchFamily="34" charset="-122"/>
                <a:cs typeface="IBM Plex Sans" pitchFamily="34" charset="-120"/>
              </a:rPr>
              <a:t> · replay, request bulk replays</a:t>
            </a:r>
            <a:endParaRPr lang="en-US" sz="1400" dirty="0"/>
          </a:p>
        </p:txBody>
      </p:sp>
      <p:sp>
        <p:nvSpPr>
          <p:cNvPr id="8" name="Text 6"/>
          <p:cNvSpPr/>
          <p:nvPr/>
        </p:nvSpPr>
        <p:spPr>
          <a:xfrm>
            <a:off x="7823200" y="5103019"/>
            <a:ext cx="3556000" cy="426641"/>
          </a:xfrm>
          <a:prstGeom prst="roundRect">
            <a:avLst>
              <a:gd name="adj" fmla="val 11907"/>
            </a:avLst>
          </a:prstGeom>
          <a:solidFill>
            <a:srgbClr val="E1EFF2"/>
          </a:solidFill>
          <a:ln/>
        </p:spPr>
        <p:txBody>
          <a:bodyPr wrap="square" lIns="124821" tIns="74021" rIns="26523" bIns="48621"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bob</a:t>
            </a:r>
            <a:r>
              <a:rPr lang="en-US" sz="1400" dirty="0">
                <a:solidFill>
                  <a:srgbClr val="14212B"/>
                </a:solidFill>
                <a:latin typeface="IBM Plex Sans" pitchFamily="34" charset="0"/>
                <a:ea typeface="IBM Plex Sans" pitchFamily="34" charset="-122"/>
                <a:cs typeface="IBM Plex Sans" pitchFamily="34" charset="-120"/>
              </a:rPr>
              <a:t> · approve someone else’s request</a:t>
            </a:r>
            <a:endParaRPr lang="en-US" sz="1400" dirty="0"/>
          </a:p>
        </p:txBody>
      </p:sp>
      <p:sp>
        <p:nvSpPr>
          <p:cNvPr id="9" name="Text 7"/>
          <p:cNvSpPr/>
          <p:nvPr/>
        </p:nvSpPr>
        <p:spPr>
          <a:xfrm>
            <a:off x="7823200" y="5618559"/>
            <a:ext cx="3556000" cy="426641"/>
          </a:xfrm>
          <a:prstGeom prst="roundRect">
            <a:avLst>
              <a:gd name="adj" fmla="val 11907"/>
            </a:avLst>
          </a:prstGeom>
          <a:solidFill>
            <a:srgbClr val="E1EFF2"/>
          </a:solidFill>
          <a:ln/>
        </p:spPr>
        <p:txBody>
          <a:bodyPr wrap="square" lIns="124821" tIns="74021" rIns="26523" bIns="48621" rtlCol="0" anchor="t">
            <a:normAutofit/>
          </a:bodyPr>
          <a:lstStyle/>
          <a:p>
            <a:pPr marL="0" indent="0" algn="l">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admin</a:t>
            </a:r>
            <a:r>
              <a:rPr lang="en-US" sz="1400" dirty="0">
                <a:solidFill>
                  <a:srgbClr val="14212B"/>
                </a:solidFill>
                <a:latin typeface="IBM Plex Sans" pitchFamily="34" charset="0"/>
                <a:ea typeface="IBM Plex Sans" pitchFamily="34" charset="-122"/>
                <a:cs typeface="IBM Plex Sans" pitchFamily="34" charset="-120"/>
              </a:rPr>
              <a:t> · pause, gaps, control totals</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3F5F6"/>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D6A7E"/>
                </a:solidFill>
                <a:latin typeface="IBM Plex Sans" pitchFamily="34" charset="0"/>
                <a:ea typeface="IBM Plex Sans" pitchFamily="34" charset="-122"/>
                <a:cs typeface="IBM Plex Sans" pitchFamily="34" charset="-120"/>
              </a:rPr>
              <a:t>READINESS</a:t>
            </a:r>
            <a:endParaRPr lang="en-US" sz="1200" dirty="0"/>
          </a:p>
        </p:txBody>
      </p:sp>
      <p:sp>
        <p:nvSpPr>
          <p:cNvPr id="3" name="Text 1"/>
          <p:cNvSpPr>
            <a:spLocks noGrp="1"/>
          </p:cNvSpPr>
          <p:nvPr>
            <p:ph type="title"/>
          </p:nvPr>
        </p:nvSpPr>
        <p:spPr>
          <a:xfrm>
            <a:off x="812800" y="1127720"/>
            <a:ext cx="10883392" cy="49272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14212B"/>
                </a:solidFill>
                <a:latin typeface="IBM Plex Sans" pitchFamily="34" charset="0"/>
                <a:ea typeface="IBM Plex Sans" pitchFamily="34" charset="-122"/>
                <a:cs typeface="IBM Plex Sans" pitchFamily="34" charset="-120"/>
              </a:rPr>
              <a:t>What’s built, and what production still needs</a:t>
            </a:r>
            <a:endParaRPr lang="en-US" sz="3200" dirty="0"/>
          </a:p>
        </p:txBody>
      </p:sp>
      <p:sp>
        <p:nvSpPr>
          <p:cNvPr id="4" name="Shape 2"/>
          <p:cNvSpPr/>
          <p:nvPr/>
        </p:nvSpPr>
        <p:spPr>
          <a:xfrm>
            <a:off x="815975" y="1903016"/>
            <a:ext cx="5200650" cy="2213570"/>
          </a:xfrm>
          <a:prstGeom prst="roundRect">
            <a:avLst>
              <a:gd name="adj" fmla="val 2725"/>
            </a:avLst>
          </a:prstGeom>
          <a:solidFill>
            <a:srgbClr val="FBFCFC"/>
          </a:solidFill>
          <a:ln w="6350">
            <a:solidFill>
              <a:srgbClr val="D3DBE0"/>
            </a:solidFill>
            <a:prstDash val="solid"/>
          </a:ln>
        </p:spPr>
      </p:sp>
      <p:sp>
        <p:nvSpPr>
          <p:cNvPr id="5" name="Text 3"/>
          <p:cNvSpPr/>
          <p:nvPr/>
        </p:nvSpPr>
        <p:spPr>
          <a:xfrm>
            <a:off x="1022350" y="210939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D6A7E"/>
                </a:solidFill>
                <a:latin typeface="IBM Plex Sans" pitchFamily="34" charset="0"/>
                <a:ea typeface="IBM Plex Sans" pitchFamily="34" charset="-122"/>
                <a:cs typeface="IBM Plex Sans" pitchFamily="34" charset="-120"/>
              </a:rPr>
              <a:t>BUILT AND RUNNING LOCALLY</a:t>
            </a:r>
            <a:endParaRPr lang="en-US" sz="1200" dirty="0"/>
          </a:p>
        </p:txBody>
      </p:sp>
      <p:sp>
        <p:nvSpPr>
          <p:cNvPr id="6" name="Text 4"/>
          <p:cNvSpPr/>
          <p:nvPr/>
        </p:nvSpPr>
        <p:spPr>
          <a:xfrm>
            <a:off x="1107694" y="2424311"/>
            <a:ext cx="4838573"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Pipeline, ledger, failure tray, outbox, replay</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Ops console and API with four roles</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Entra SSO and service-token mode, configured</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AKS manifests: probes, graceful shutdown, KEDA</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JSON logs shaped for Splunk</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Integration test suite</a:t>
            </a:r>
            <a:endParaRPr lang="en-US" sz="1300" dirty="0"/>
          </a:p>
        </p:txBody>
      </p:sp>
      <p:sp>
        <p:nvSpPr>
          <p:cNvPr id="7" name="Shape 5"/>
          <p:cNvSpPr/>
          <p:nvPr/>
        </p:nvSpPr>
        <p:spPr>
          <a:xfrm>
            <a:off x="6175375" y="1903016"/>
            <a:ext cx="5200650" cy="2213570"/>
          </a:xfrm>
          <a:prstGeom prst="roundRect">
            <a:avLst>
              <a:gd name="adj" fmla="val 2725"/>
            </a:avLst>
          </a:prstGeom>
          <a:solidFill>
            <a:srgbClr val="FBFCFC"/>
          </a:solidFill>
          <a:ln w="6350">
            <a:solidFill>
              <a:srgbClr val="D3DBE0"/>
            </a:solidFill>
            <a:prstDash val="solid"/>
          </a:ln>
        </p:spPr>
      </p:sp>
      <p:sp>
        <p:nvSpPr>
          <p:cNvPr id="8" name="Text 6"/>
          <p:cNvSpPr/>
          <p:nvPr/>
        </p:nvSpPr>
        <p:spPr>
          <a:xfrm>
            <a:off x="6381750" y="2109391"/>
            <a:ext cx="4931537"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61A"/>
                </a:solidFill>
                <a:latin typeface="IBM Plex Sans" pitchFamily="34" charset="0"/>
                <a:ea typeface="IBM Plex Sans" pitchFamily="34" charset="-122"/>
                <a:cs typeface="IBM Plex Sans" pitchFamily="34" charset="-120"/>
              </a:rPr>
              <a:t>BEFORE PRODUCTION</a:t>
            </a:r>
            <a:endParaRPr lang="en-US" sz="1200" dirty="0"/>
          </a:p>
        </p:txBody>
      </p:sp>
      <p:sp>
        <p:nvSpPr>
          <p:cNvPr id="9" name="Text 7"/>
          <p:cNvSpPr/>
          <p:nvPr/>
        </p:nvSpPr>
        <p:spPr>
          <a:xfrm>
            <a:off x="6467094" y="2424311"/>
            <a:ext cx="4838573" cy="1511300"/>
          </a:xfrm>
          <a:prstGeom prst="rect">
            <a:avLst/>
          </a:prstGeom>
          <a:noFill/>
          <a:ln/>
        </p:spPr>
        <p:txBody>
          <a:bodyPr wrap="square" lIns="0" tIns="0" rIns="0" bIns="0" rtlCol="0" anchor="t">
            <a:normAutofit/>
          </a:bodyPr>
          <a:lstStyle/>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Real account topic name and schema</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10× load test on production-sized Azure SQL</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Entra app roles and Splunk index set up</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Ledger partitioning, 30-day hot window, archive</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Schema compatibility check in CI</a:t>
            </a:r>
            <a:endParaRPr lang="en-US" sz="1300" dirty="0"/>
          </a:p>
          <a:p>
            <a:pPr marL="168656" indent="-168656" algn="l">
              <a:lnSpc>
                <a:spcPts val="1950"/>
              </a:lnSpc>
              <a:buSzPct val="100000"/>
              <a:buChar char="•"/>
            </a:pPr>
            <a:r>
              <a:rPr lang="en-US" sz="1300" dirty="0">
                <a:solidFill>
                  <a:srgbClr val="14212B"/>
                </a:solidFill>
                <a:latin typeface="IBM Plex Sans" pitchFamily="34" charset="0"/>
                <a:ea typeface="IBM Plex Sans" pitchFamily="34" charset="-122"/>
                <a:cs typeface="IBM Plex Sans" pitchFamily="34" charset="-120"/>
              </a:rPr>
              <a:t>Database migrations run from the pipeline</a:t>
            </a:r>
            <a:endParaRPr lang="en-US" sz="1300" dirty="0"/>
          </a:p>
        </p:txBody>
      </p:sp>
      <p:sp>
        <p:nvSpPr>
          <p:cNvPr id="10" name="Text 8"/>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D6B75"/>
                </a:solidFill>
                <a:latin typeface="IBM Plex Sans" pitchFamily="34" charset="0"/>
                <a:ea typeface="IBM Plex Sans" pitchFamily="34" charset="-122"/>
                <a:cs typeface="IBM Plex Sans" pitchFamily="34" charset="-120"/>
              </a:rPr>
              <a:t>IOC Account Consumer · Demo</a:t>
            </a:r>
            <a:endParaRPr lang="en-US" sz="12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D6B75"/>
                </a:solidFill>
                <a:latin typeface="IBM Plex Sans" pitchFamily="34" charset="0"/>
                <a:ea typeface="IBM Plex Sans" pitchFamily="34" charset="-122"/>
                <a:cs typeface="IBM Plex Sans" pitchFamily="34" charset="-120"/>
              </a:rPr>
              <a:t>17</a:t>
            </a:r>
            <a:endParaRPr lang="en-US" sz="1200" dirty="0"/>
          </a:p>
        </p:txBody>
      </p:sp>
    </p:spTree>
  </p:cSld>
  <p:clrMapOvr>
    <a:masterClrMapping/>
  </p:clrMapOvr>
</p:sld>
</file>

<file path=ppt/theme/theme1.xml><?xml version="1.0" encoding="utf-8"?>
<a:theme xmlns:a="http://schemas.openxmlformats.org/drawingml/2006/main" name="IOC Account Consumer Demo">
  <a:themeElements>
    <a:clrScheme name="IOC Account Consumer Demo">
      <a:dk1>
        <a:srgbClr val="14212B"/>
      </a:dk1>
      <a:lt1>
        <a:srgbClr val="F3F5F6"/>
      </a:lt1>
      <a:dk2>
        <a:srgbClr val="4C565E"/>
      </a:dk2>
      <a:lt2>
        <a:srgbClr val="DDE0E2"/>
      </a:lt2>
      <a:accent1>
        <a:srgbClr val="0D6A7E"/>
      </a:accent1>
      <a:accent2>
        <a:srgbClr val="5CC0D3"/>
      </a:accent2>
      <a:accent3>
        <a:srgbClr val="B4561A"/>
      </a:accent3>
      <a:accent4>
        <a:srgbClr val="4B5B67"/>
      </a:accent4>
      <a:accent5>
        <a:srgbClr val="5D6B75"/>
      </a:accent5>
      <a:accent6>
        <a:srgbClr val="A9BAC3"/>
      </a:accent6>
      <a:hlink>
        <a:srgbClr val="0563C1"/>
      </a:hlink>
      <a:folHlink>
        <a:srgbClr val="954F72"/>
      </a:folHlink>
    </a:clrScheme>
    <a:fontScheme name="IOC Account Consumer Demo">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2598</TotalTime>
  <Words>3502</Words>
  <Application>Microsoft Office PowerPoint</Application>
  <PresentationFormat>Widescreen</PresentationFormat>
  <Paragraphs>312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JetBrains Mono</vt:lpstr>
      <vt:lpstr>Arial</vt:lpstr>
      <vt:lpstr>IBM Plex Sans</vt:lpstr>
      <vt:lpstr>IOC Account Consumer Demo</vt:lpstr>
      <vt:lpstr>IOC Account Consumer</vt:lpstr>
      <vt:lpstr>Four parts, demo in the middle</vt:lpstr>
      <vt:lpstr>Every point on the brief has an answer</vt:lpstr>
      <vt:lpstr>Think of IOC as a post room</vt:lpstr>
      <vt:lpstr>What happens to every record</vt:lpstr>
      <vt:lpstr>Three ways a duplicate arrives</vt:lpstr>
      <vt:lpstr>Every record ends with exactly one outcome</vt:lpstr>
      <vt:lpstr>Three kinds of failure, three responses</vt:lpstr>
      <vt:lpstr>Automatic where it helps, controlled where it’s risky</vt:lpstr>
      <vt:lpstr>Kafka is the waiting room; the database sets the pace</vt:lpstr>
      <vt:lpstr>No lost announcements, no false ones</vt:lpstr>
      <vt:lpstr>One trace id from source to CLM</vt:lpstr>
      <vt:lpstr>Live demo</vt:lpstr>
      <vt:lpstr>What’s built, and what production still needs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IOC Account Consumer Demo</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Muzammil Farook</cp:lastModifiedBy>
  <cp:revision>4</cp:revision>
  <dcterms:created xsi:type="dcterms:W3CDTF">2026-10-27T17:39:34Z</dcterms:created>
  <dcterms:modified xsi:type="dcterms:W3CDTF">2026-10-29T12:58:27Z</dcterms:modified>
</cp:coreProperties>
</file>